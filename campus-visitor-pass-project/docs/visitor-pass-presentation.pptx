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fa9fee82014949" /><Relationship Type="http://schemas.openxmlformats.org/officeDocument/2006/relationships/extended-properties" Target="/docProps/app.xml" Id="Rf58294bc54174a91" /><Relationship Type="http://schemas.openxmlformats.org/officeDocument/2006/relationships/officeDocument" Target="/ppt/presentation.xml" Id="R0b3c443158d44181" /></Relationships>
</file>

<file path=ppt/presentation.xml><?xml version="1.0" encoding="utf-8"?>
<p:presentation xmlns:p="http://schemas.openxmlformats.org/presentationml/2006/main">
  <p:sldMasterIdLst>
    <p:sldMasterId xmlns:r="http://schemas.openxmlformats.org/officeDocument/2006/relationships" id="2147483648" r:id="Rfec75debc3ea4793"/>
  </p:sldMasterIdLst>
  <p:notesMasterIdLst>
    <p:notesMasterId xmlns:r="http://schemas.openxmlformats.org/officeDocument/2006/relationships" r:id="R9caa685905ee4fbf"/>
  </p:notesMasterIdLst>
  <p:sldIdLst>
    <p:sldId xmlns:r="http://schemas.openxmlformats.org/officeDocument/2006/relationships" id="256" r:id="Ra28cf54bdf5748ae"/>
    <p:sldId xmlns:r="http://schemas.openxmlformats.org/officeDocument/2006/relationships" id="257" r:id="R5a7ca41451524af4"/>
    <p:sldId xmlns:r="http://schemas.openxmlformats.org/officeDocument/2006/relationships" id="258" r:id="R46dd56ab10fe41c2"/>
    <p:sldId xmlns:r="http://schemas.openxmlformats.org/officeDocument/2006/relationships" id="259" r:id="Rc912baf557714066"/>
    <p:sldId xmlns:r="http://schemas.openxmlformats.org/officeDocument/2006/relationships" id="260" r:id="R65d04b370cb64b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1ac7099b1c4a39" /><Relationship Type="http://schemas.openxmlformats.org/officeDocument/2006/relationships/slideMaster" Target="/ppt/slideMasters/slideMaster1.xml" Id="Rfec75debc3ea4793" /><Relationship Type="http://schemas.openxmlformats.org/officeDocument/2006/relationships/notesMaster" Target="/ppt/notesMasters/notesMaster1.xml" Id="R9caa685905ee4fbf" /><Relationship Type="http://schemas.openxmlformats.org/officeDocument/2006/relationships/presProps" Target="/ppt/presProps.xml" Id="Rbb11c78cca5e46ff" /><Relationship Type="http://schemas.openxmlformats.org/officeDocument/2006/relationships/tableStyles" Target="/ppt/tableStyles.xml" Id="R6218f69f18604b7e" /><Relationship Type="http://schemas.openxmlformats.org/officeDocument/2006/relationships/slide" Target="/ppt/slides/slide1.xml" Id="Ra28cf54bdf5748ae" /><Relationship Type="http://schemas.openxmlformats.org/officeDocument/2006/relationships/slide" Target="/ppt/slides/slide2.xml" Id="R5a7ca41451524af4" /><Relationship Type="http://schemas.openxmlformats.org/officeDocument/2006/relationships/slide" Target="/ppt/slides/slide3.xml" Id="R46dd56ab10fe41c2" /><Relationship Type="http://schemas.openxmlformats.org/officeDocument/2006/relationships/slide" Target="/ppt/slides/slide4.xml" Id="Rc912baf557714066" /><Relationship Type="http://schemas.openxmlformats.org/officeDocument/2006/relationships/slide" Target="/ppt/slides/slide5.xml" Id="R65d04b370cb64b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f4d92c459544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f2e36582bb4e1c" /><Relationship Type="http://schemas.openxmlformats.org/officeDocument/2006/relationships/notesMaster" Target="/ppt/notesMasters/notesMaster1.xml" Id="Re9c564fb2ec74b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43a5d65a8f4c8b" /><Relationship Type="http://schemas.openxmlformats.org/officeDocument/2006/relationships/notesMaster" Target="/ppt/notesMasters/notesMaster1.xml" Id="R7abf5da5fdff45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4afee0b75941b7" /><Relationship Type="http://schemas.openxmlformats.org/officeDocument/2006/relationships/notesMaster" Target="/ppt/notesMasters/notesMaster1.xml" Id="R90a78910194440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b6262929054b02" /><Relationship Type="http://schemas.openxmlformats.org/officeDocument/2006/relationships/notesMaster" Target="/ppt/notesMasters/notesMaster1.xml" Id="R70890f3ea10642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40932df5cf4168" /><Relationship Type="http://schemas.openxmlformats.org/officeDocument/2006/relationships/notesMaster" Target="/ppt/notesMasters/notesMaster1.xml" Id="Rae2385723df44d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Campus Visitor Pass</a:t>
            </a:r>
          </a:p>
          <a:p xmlns:a="http://schemas.openxmlformats.org/drawingml/2006/main">
            <a:r>
              <a:t/>
            </a:r>
          </a:p>
          <a:p xmlns:a="http://schemas.openxmlformats.org/drawingml/2006/main">
            <a:r>
              <a:t>Our project supports a simple campus workflow. A visitor asks to visit, the assigned host approves or denies, and the guard checks the pass at the gate. We recommend a layered monolith for the full system. This page is a small proof of the workflow using simulated roles and fictional data.</a:t>
            </a:r>
          </a:p>
          <a:p xmlns:a="http://schemas.openxmlformats.org/drawingml/2006/main">
            <a:r>
              <a:t/>
            </a:r>
          </a:p>
          <a:p xmlns:a="http://schemas.openxmlformats.org/drawingml/2006/main">
            <a:r>
              <a:t/>
            </a:r>
          </a:p>
          <a:p xmlns:a="http://schemas.openxmlformats.org/drawingml/2006/main">
            <a:r>
              <a:t>Course source: Dr. Tsige Tessema, Week 6 Security and Testability lecture, supplied by the user. Relevant slides: 8–10, 13–20. The team-project brief supplies the workflow. All full-system controls are proposed; the page has simulated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0:25–1:10   Architecture choice</a:t>
            </a:r>
          </a:p>
          <a:p xmlns:a="http://schemas.openxmlformats.org/drawingml/2006/main">
            <a:r>
              <a:t/>
            </a:r>
          </a:p>
          <a:p xmlns:a="http://schemas.openxmlformats.org/drawingml/2006/main">
            <a:r>
              <a:t>Security and testability shaped the decision. The server provides one place to authenticate staff and validate requests. The Pass module checks permissions before changing state. Separate repository and clock interfaces make tests repeatable. Maintainability is our third quality: we can change the page or storage adapter without rewriting the approval rules. We accept that one server outage affects the whole workflow. Microservices add deployment and network complexity. Event-driven approval introduces delays and duplicate-event handling at the gate, where the decision should be immediate.</a:t>
            </a:r>
          </a:p>
          <a:p xmlns:a="http://schemas.openxmlformats.org/drawingml/2006/main">
            <a:r>
              <a:t/>
            </a:r>
          </a:p>
          <a:p xmlns:a="http://schemas.openxmlformats.org/drawingml/2006/main">
            <a:r>
              <a:t/>
            </a:r>
          </a:p>
          <a:p xmlns:a="http://schemas.openxmlformats.org/drawingml/2006/main">
            <a:r>
              <a:t>Course source: Dr. Tsige Tessema, Week 6 Security and Testability lecture, supplied by the user. Relevant slides: 8–10, 13–20. The team-project brief supplies the workflow. All full-system controls are proposed; the page has simulated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1:10–2:00   Components and boundaries</a:t>
            </a:r>
          </a:p>
          <a:p xmlns:a="http://schemas.openxmlformats.org/drawingml/2006/main">
            <a:r>
              <a:t/>
            </a:r>
          </a:p>
          <a:p xmlns:a="http://schemas.openxmlformats.org/drawingml/2006/main">
            <a:r>
              <a:t>The browser is untrusted. Requests cross the first trust boundary into HTTP and authentication middleware, then reach the Pass module. The module checks both the role and the assigned host before a decision. The repository interface separates the visit rules from storage. Database access crosses the second boundary into a private data tier. The modules deploy together. Guard responses contain only validity and date. The full system adds real staff authentication, HTTPS and database encryption. Our browser proof cannot provide that protection because its roles and data are controlled locally.</a:t>
            </a:r>
          </a:p>
          <a:p xmlns:a="http://schemas.openxmlformats.org/drawingml/2006/main">
            <a:r>
              <a:t/>
            </a:r>
          </a:p>
          <a:p xmlns:a="http://schemas.openxmlformats.org/drawingml/2006/main">
            <a:r>
              <a:t/>
            </a:r>
          </a:p>
          <a:p xmlns:a="http://schemas.openxmlformats.org/drawingml/2006/main">
            <a:r>
              <a:t>Course source: Dr. Tsige Tessema, Week 6 Security and Testability lecture, supplied by the user. Relevant slides: 8–10, 13–20. The team-project brief supplies the workflow. All full-system controls are proposed; the page has simulated roles.</a:t>
            </a:r>
          </a:p>
          <a:p xmlns:a="http://schemas.openxmlformats.org/drawingml/2006/main">
            <a:r>
              <a:t>Diagram components and connectors are editable native slide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   Decisions and evidence</a:t>
            </a:r>
          </a:p>
          <a:p xmlns:a="http://schemas.openxmlformats.org/drawingml/2006/main">
            <a:r>
              <a:t/>
            </a:r>
          </a:p>
          <a:p xmlns:a="http://schemas.openxmlformats.org/drawingml/2006/main">
            <a:r>
              <a:t>ADR 001 chooses a layered monolith for a small team and a short workflow. ADR 002 injects data storage and security context so tests can control them. Our security cases cover unauthorized approval and unnecessary personal-data exposure. Our testability case checks approval and expiry using a fresh fake repository and a fixed date. The supplied service suite passes 18 checks, including wrong-host access and duplicate pass codes. We do not claim that these tests prove production security. In production, authenticated middleware supplies the actor, and the server protects the same rules.</a:t>
            </a:r>
          </a:p>
          <a:p xmlns:a="http://schemas.openxmlformats.org/drawingml/2006/main">
            <a:r>
              <a:t/>
            </a:r>
          </a:p>
          <a:p xmlns:a="http://schemas.openxmlformats.org/drawingml/2006/main">
            <a:r>
              <a:t/>
            </a:r>
          </a:p>
          <a:p xmlns:a="http://schemas.openxmlformats.org/drawingml/2006/main">
            <a:r>
              <a:t>Course source: Dr. Tsige Tessema, Week 6 Security and Testability lecture, supplied by the user. Relevant slides: 8–10, 13–20. The team-project brief supplies the workflow. All full-system controls are proposed; the page has simulated roles.</a:t>
            </a:r>
          </a:p>
          <a:p xmlns:a="http://schemas.openxmlformats.org/drawingml/2006/main">
            <a:r>
              <a:t>The service suite completed with 18 tests passing during preparation. No branch coverage or production security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3:00–5:00   Live workflow proof</a:t>
            </a:r>
          </a:p>
          <a:p xmlns:a="http://schemas.openxmlformats.org/drawingml/2006/main">
            <a:r>
              <a:t/>
            </a:r>
          </a:p>
          <a:p xmlns:a="http://schemas.openxmlformats.org/drawingml/2006/main">
            <a:r>
              <a:t>Before presenting, open the page with empty data. Use a fictional name and today's local date.</a:t>
            </a:r>
          </a:p>
          <a:p xmlns:a="http://schemas.openxmlformats.org/drawingml/2006/main">
            <a:r>
              <a:t/>
            </a:r>
          </a:p>
          <a:p xmlns:a="http://schemas.openxmlformats.org/drawingml/2006/main">
            <a:r>
              <a:t>1. Submit a blank name to show a clear validation error.</a:t>
            </a:r>
          </a:p>
          <a:p xmlns:a="http://schemas.openxmlformats.org/drawingml/2006/main">
            <a:r>
              <a:t>2. Submit **Alex Morgan**, today's date and **Admissions Office**.</a:t>
            </a:r>
          </a:p>
          <a:p xmlns:a="http://schemas.openxmlformats.org/drawingml/2006/main">
            <a:r>
              <a:t>3. Click **Try approval as Visitor** and show access denied.</a:t>
            </a:r>
          </a:p>
          <a:p xmlns:a="http://schemas.openxmlformats.org/drawingml/2006/main">
            <a:r>
              <a:t>4. Switch to **Host**. Choose **Student Services** and show no Admissions request. Switch back to **Admissions Office**, approve and copy the generated code.</a:t>
            </a:r>
          </a:p>
          <a:p xmlns:a="http://schemas.openxmlformats.org/drawingml/2006/main">
            <a:r>
              <a:t>5. Switch to **Guard**. Check a wrong code, then the approved code. Show invalid followed by valid, with no visitor name in the result.</a:t>
            </a:r>
          </a:p>
          <a:p xmlns:a="http://schemas.openxmlformats.org/drawingml/2006/main">
            <a:r>
              <a:t>6. If time permits, open the activity log and show that it contains actions without names or codes.</a:t>
            </a:r>
          </a:p>
          <a:p xmlns:a="http://schemas.openxmlformats.org/drawingml/2006/main">
            <a:r>
              <a:t/>
            </a:r>
          </a:p>
          <a:p xmlns:a="http://schemas.openxmlformats.org/drawingml/2006/main">
            <a:r>
              <a:t>Close by explaining that the page demonstrates the workflow and interfaces, while the architecture document explains the server controls required for real visitors. Practice once before class and assign speaking/demo roles to actual teammates.</a:t>
            </a:r>
          </a:p>
          <a:p xmlns:a="http://schemas.openxmlformats.org/drawingml/2006/main">
            <a:r>
              <a:t/>
            </a:r>
          </a:p>
          <a:p xmlns:a="http://schemas.openxmlformats.org/drawingml/2006/main">
            <a:r>
              <a:t>Course source: Dr. Tsige Tessema, Week 6 Security and Testability lecture, supplied by the user. Relevant slides: 8–10, 13–20. The team-project brief supplies the workflow. All full-system controls are proposed; the page has simulated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dab06def6b4b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54b92c3f2f4d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60c9a79f8b41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5effac28644e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a8a3866ee141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9d2c52b85741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F869351-581B-4B4A-BA90-E9FEC1482313}"/>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E74046B-4789-4A0A-81C2-F5347C8AC9C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6DC69DD-D7FF-41C4-AC9D-711B52B59D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D087AD5-B92A-43D8-AA8C-439AD727324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DA364EB-4493-431F-97EC-C32A538AAC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FB5989F-1C42-4CF5-A42C-AE0E552DF5F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12E4177-E796-4668-8B97-C61B444FD9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428CCB2D-5B42-4C97-B55F-13F26823C4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A655046-36B9-4154-99DC-06FED7D911D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F59763-01FC-4A58-A04D-5EDC3A0D50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3001A51-1020-4EF6-B4E9-01EA0F243E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53A150D-3653-4B9A-B7B6-EF088A5A30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B087A66-DEE3-4C4F-A0DB-2AC984FEB07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59A6546-21B2-403A-AB7E-9663FA8B22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983B67B-2B4E-4788-B107-D481E07A21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1d253570614718" /><Relationship Type="http://schemas.openxmlformats.org/officeDocument/2006/relationships/slideLayout" Target="/ppt/slideLayouts/slideLayout1.xml" Id="R0b41a02614884e6b" /><Relationship Type="http://schemas.openxmlformats.org/officeDocument/2006/relationships/slideLayout" Target="/ppt/slideLayouts/slideLayout2.xml" Id="R3c14c40258eb4a57" /><Relationship Type="http://schemas.openxmlformats.org/officeDocument/2006/relationships/slideLayout" Target="/ppt/slideLayouts/slideLayout3.xml" Id="R7e838390b0664785" /><Relationship Type="http://schemas.openxmlformats.org/officeDocument/2006/relationships/slideLayout" Target="/ppt/slideLayouts/slideLayout4.xml" Id="Ra75b64e60834445c" /><Relationship Type="http://schemas.openxmlformats.org/officeDocument/2006/relationships/slideLayout" Target="/ppt/slideLayouts/slideLayout5.xml" Id="R171a2f8c8f074179" /><Relationship Type="http://schemas.openxmlformats.org/officeDocument/2006/relationships/slideLayout" Target="/ppt/slideLayouts/slideLayout6.xml" Id="R5b3c66fcf85f4a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41a02614884e6b"/>
    <p:sldLayoutId xmlns:r="http://schemas.openxmlformats.org/officeDocument/2006/relationships" id="2147483650" r:id="R3c14c40258eb4a57"/>
    <p:sldLayoutId xmlns:r="http://schemas.openxmlformats.org/officeDocument/2006/relationships" id="2147483651" r:id="R7e838390b0664785"/>
    <p:sldLayoutId xmlns:r="http://schemas.openxmlformats.org/officeDocument/2006/relationships" id="2147483652" r:id="Ra75b64e60834445c"/>
    <p:sldLayoutId xmlns:r="http://schemas.openxmlformats.org/officeDocument/2006/relationships" id="2147483653" r:id="R171a2f8c8f074179"/>
    <p:sldLayoutId xmlns:r="http://schemas.openxmlformats.org/officeDocument/2006/relationships" id="2147483654" r:id="R5b3c66fcf85f4a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bf152e4271477a" /><Relationship Type="http://schemas.openxmlformats.org/officeDocument/2006/relationships/notesSlide" Target="/ppt/notesSlides/notesSlide1.xml" Id="R32aed6580c8947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4482a225ad4b48" /><Relationship Type="http://schemas.openxmlformats.org/officeDocument/2006/relationships/notesSlide" Target="/ppt/notesSlides/notesSlide2.xml" Id="Ra51e0ff614b041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fab79952f641bd" /><Relationship Type="http://schemas.openxmlformats.org/officeDocument/2006/relationships/notesSlide" Target="/ppt/notesSlides/notesSlide3.xml" Id="R1194d7d9701645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b1e46910e74362" /><Relationship Type="http://schemas.openxmlformats.org/officeDocument/2006/relationships/notesSlide" Target="/ppt/notesSlides/notesSlide4.xml" Id="Rca311c3083084c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406435684048ab" /><Relationship Type="http://schemas.openxmlformats.org/officeDocument/2006/relationships/notesSlide" Target="/ppt/notesSlides/notesSlide5.xml" Id="R469728bb0c2a45ca" /></Relationships>
</file>

<file path=ppt/slides/slide1.xml><?xml version="1.0" encoding="utf-8"?>
<p:sld xmlns:p="http://schemas.openxmlformats.org/presentationml/2006/main">
  <p:cSld>
    <p:bg>
      <p:bgPr>
        <a:solidFill xmlns:a="http://schemas.openxmlformats.org/drawingml/2006/main">
          <a:srgbClr val="173E4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7769503-A507-4A27-AF7F-C2B9DBA1841E}"/>
              </a:ext>
            </a:extLst>
          </p:cNvPr>
          <p:cNvSpPr>
            <a:spLocks xmlns:a="http://schemas.openxmlformats.org/drawingml/2006/main" noGrp="1"/>
          </p:cNvSpPr>
          <p:nvPr/>
        </p:nvSpPr>
        <p:spPr>
          <a:xfrm xmlns:a="http://schemas.openxmlformats.org/drawingml/2006/main">
            <a:off x="666750" y="17526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025" b="1">
                <a:solidFill>
                  <a:srgbClr val="FFFFFF"/>
                </a:solidFill>
                <a:latin typeface="DejaVu Sans"/>
                <a:ea typeface="DejaVu Sans"/>
                <a:cs typeface="DejaVu Sans"/>
              </a:defRPr>
            </a:pPr>
            <a:r>
              <a:rPr sz="5025" b="1">
                <a:solidFill>
                  <a:srgbClr val="FFFFFF"/>
                </a:solidFill>
                <a:latin typeface="DejaVu Sans"/>
                <a:ea typeface="DejaVu Sans"/>
                <a:cs typeface="DejaVu Sans"/>
              </a:rPr>
              <a:t>CAMPUS VISITOR PASS</a:t>
            </a:r>
          </a:p>
        </p:txBody>
      </p:sp>
      <p:sp>
        <p:nvSpPr>
          <p:cNvPr id="2" name="">
            <a:extLst xmlns:a="http://schemas.openxmlformats.org/drawingml/2006/main">
              <a:ext uri="{FF2B5EF4-FFF2-40B4-BE49-F238E27FC236}">
                <a16:creationId xmlns:a16="http://schemas.microsoft.com/office/drawing/2014/main" id="{FBACD083-68C3-4370-A6DC-24874BA80C43}"/>
              </a:ext>
            </a:extLst>
          </p:cNvPr>
          <p:cNvSpPr>
            <a:spLocks xmlns:a="http://schemas.openxmlformats.org/drawingml/2006/main" noGrp="1"/>
          </p:cNvSpPr>
          <p:nvPr/>
        </p:nvSpPr>
        <p:spPr>
          <a:xfrm xmlns:a="http://schemas.openxmlformats.org/drawingml/2006/main">
            <a:off x="695325" y="36385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0">
                <a:solidFill>
                  <a:srgbClr val="E7C884"/>
                </a:solidFill>
                <a:latin typeface="DejaVu Sans"/>
                <a:ea typeface="DejaVu Sans"/>
                <a:cs typeface="DejaVu Sans"/>
              </a:defRPr>
            </a:pPr>
            <a:r>
              <a:rPr sz="3000" b="0">
                <a:solidFill>
                  <a:srgbClr val="E7C884"/>
                </a:solidFill>
                <a:latin typeface="DejaVu Sans"/>
                <a:ea typeface="DejaVu Sans"/>
                <a:cs typeface="DejaVu Sans"/>
              </a:rPr>
              <a:t>Layered monolith</a:t>
            </a:r>
          </a:p>
        </p:txBody>
      </p:sp>
      <p:sp>
        <p:nvSpPr>
          <p:cNvPr id="3" name="">
            <a:extLst xmlns:a="http://schemas.openxmlformats.org/drawingml/2006/main">
              <a:ext uri="{FF2B5EF4-FFF2-40B4-BE49-F238E27FC236}">
                <a16:creationId xmlns:a16="http://schemas.microsoft.com/office/drawing/2014/main" id="{FB3E8710-09AF-4D1E-AE37-F23155F64468}"/>
              </a:ext>
            </a:extLst>
          </p:cNvPr>
          <p:cNvSpPr>
            <a:spLocks xmlns:a="http://schemas.openxmlformats.org/drawingml/2006/main" noGrp="1"/>
          </p:cNvSpPr>
          <p:nvPr/>
        </p:nvSpPr>
        <p:spPr>
          <a:xfrm xmlns:a="http://schemas.openxmlformats.org/drawingml/2006/main">
            <a:off x="704850" y="4705350"/>
            <a:ext cx="1019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D9E6E9"/>
                </a:solidFill>
                <a:latin typeface="DejaVu Sans"/>
                <a:ea typeface="DejaVu Sans"/>
                <a:cs typeface="DejaVu Sans"/>
              </a:defRPr>
            </a:pPr>
            <a:r>
              <a:rPr sz="1875" b="0">
                <a:solidFill>
                  <a:srgbClr val="D9E6E9"/>
                </a:solidFill>
                <a:latin typeface="DejaVu Sans"/>
                <a:ea typeface="DejaVu Sans"/>
                <a:cs typeface="DejaVu Sans"/>
              </a:rPr>
              <a:t>Bay Atlantic University</a:t>
            </a:r>
          </a:p>
          <a:p xmlns:a="http://schemas.openxmlformats.org/drawingml/2006/main">
            <a:pPr>
              <a:defRPr sz="1875" b="0">
                <a:solidFill>
                  <a:srgbClr val="D9E6E9"/>
                </a:solidFill>
                <a:latin typeface="DejaVu Sans"/>
                <a:ea typeface="DejaVu Sans"/>
                <a:cs typeface="DejaVu Sans"/>
              </a:defRPr>
            </a:pPr>
            <a:r>
              <a:rPr sz="1875" b="0">
                <a:solidFill>
                  <a:srgbClr val="D9E6E9"/>
                </a:solidFill>
                <a:latin typeface="DejaVu Sans"/>
                <a:ea typeface="DejaVu Sans"/>
                <a:cs typeface="DejaVu Sans"/>
              </a:rPr>
              <a:t>CMPS 570 Software Architecture</a:t>
            </a:r>
          </a:p>
          <a:p xmlns:a="http://schemas.openxmlformats.org/drawingml/2006/main">
            <a:pPr>
              <a:defRPr sz="1875" b="0">
                <a:solidFill>
                  <a:srgbClr val="D9E6E9"/>
                </a:solidFill>
                <a:latin typeface="DejaVu Sans"/>
                <a:ea typeface="DejaVu Sans"/>
                <a:cs typeface="DejaVu Sans"/>
              </a:defRPr>
            </a:pPr>
            <a:r>
              <a:rPr sz="1875" b="0">
                <a:solidFill>
                  <a:srgbClr val="D9E6E9"/>
                </a:solidFill>
                <a:latin typeface="DejaVu Sans"/>
                <a:ea typeface="DejaVu Sans"/>
                <a:cs typeface="DejaVu Sans"/>
              </a:rPr>
              <a:t>Week 6 Security and Testability</a:t>
            </a:r>
          </a:p>
        </p:txBody>
      </p:sp>
    </p:spTree>
    <p:extLst>
      <p:ext uri="{BB962C8B-B14F-4D97-AF65-F5344CB8AC3E}">
        <p14:creationId xmlns:p14="http://schemas.microsoft.com/office/powerpoint/2010/main" val="584709130"/>
      </p:ext>
    </p:extLst>
  </p:cSld>
</p:sld>
</file>

<file path=ppt/slides/slide2.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4DAEAC-6CDE-4113-83B0-24BD689EE368}"/>
              </a:ext>
            </a:extLst>
          </p:cNvPr>
          <p:cNvSpPr>
            <a:spLocks xmlns:a="http://schemas.openxmlformats.org/drawingml/2006/main" noGrp="1"/>
          </p:cNvSpPr>
          <p:nvPr/>
        </p:nvSpPr>
        <p:spPr>
          <a:xfrm xmlns:a="http://schemas.openxmlformats.org/drawingml/2006/main">
            <a:off x="619125"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73E4F"/>
                </a:solidFill>
                <a:latin typeface="DejaVu Sans"/>
                <a:ea typeface="DejaVu Sans"/>
                <a:cs typeface="DejaVu Sans"/>
              </a:defRPr>
            </a:pPr>
            <a:r>
              <a:rPr sz="3450" b="1">
                <a:solidFill>
                  <a:srgbClr val="173E4F"/>
                </a:solidFill>
                <a:latin typeface="DejaVu Sans"/>
                <a:ea typeface="DejaVu Sans"/>
                <a:cs typeface="DejaVu Sans"/>
              </a:rPr>
              <a:t>Architecture choice</a:t>
            </a:r>
          </a:p>
        </p:txBody>
      </p:sp>
      <p:sp>
        <p:nvSpPr>
          <p:cNvPr id="2" name="">
            <a:extLst xmlns:a="http://schemas.openxmlformats.org/drawingml/2006/main">
              <a:ext uri="{FF2B5EF4-FFF2-40B4-BE49-F238E27FC236}">
                <a16:creationId xmlns:a16="http://schemas.microsoft.com/office/drawing/2014/main" id="{3DBA76DD-0135-458B-AF1D-E4D8B5A8552A}"/>
              </a:ext>
            </a:extLst>
          </p:cNvPr>
          <p:cNvSpPr>
            <a:spLocks xmlns:a="http://schemas.openxmlformats.org/drawingml/2006/main" noGrp="1"/>
          </p:cNvSpPr>
          <p:nvPr/>
        </p:nvSpPr>
        <p:spPr>
          <a:xfrm xmlns:a="http://schemas.openxmlformats.org/drawingml/2006/main">
            <a:off x="10953750" y="62865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C7078"/>
                </a:solidFill>
                <a:latin typeface="DejaVu Sans"/>
                <a:ea typeface="DejaVu Sans"/>
                <a:cs typeface="DejaVu Sans"/>
              </a:defRPr>
            </a:pPr>
            <a:r>
              <a:rPr sz="1425" b="0">
                <a:solidFill>
                  <a:srgbClr val="5C7078"/>
                </a:solidFill>
                <a:latin typeface="DejaVu Sans"/>
                <a:ea typeface="DejaVu Sans"/>
                <a:cs typeface="DejaVu Sans"/>
              </a:rPr>
              <a:t>2 / 5</a:t>
            </a:r>
          </a:p>
        </p:txBody>
      </p:sp>
      <p:sp>
        <p:nvSpPr>
          <p:cNvPr id="3" name="">
            <a:extLst xmlns:a="http://schemas.openxmlformats.org/drawingml/2006/main">
              <a:ext uri="{FF2B5EF4-FFF2-40B4-BE49-F238E27FC236}">
                <a16:creationId xmlns:a16="http://schemas.microsoft.com/office/drawing/2014/main" id="{AF115747-B862-481A-9820-F8A84A52DBB1}"/>
              </a:ext>
            </a:extLst>
          </p:cNvPr>
          <p:cNvSpPr>
            <a:spLocks xmlns:a="http://schemas.openxmlformats.org/drawingml/2006/main" noGrp="1"/>
          </p:cNvSpPr>
          <p:nvPr/>
        </p:nvSpPr>
        <p:spPr>
          <a:xfrm xmlns:a="http://schemas.openxmlformats.org/drawingml/2006/main">
            <a:off x="619125" y="14668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76653"/>
                </a:solidFill>
                <a:latin typeface="DejaVu Sans"/>
                <a:ea typeface="DejaVu Sans"/>
                <a:cs typeface="DejaVu Sans"/>
              </a:defRPr>
            </a:pPr>
            <a:r>
              <a:rPr sz="2625" b="1">
                <a:solidFill>
                  <a:srgbClr val="176653"/>
                </a:solidFill>
                <a:latin typeface="DejaVu Sans"/>
                <a:ea typeface="DejaVu Sans"/>
                <a:cs typeface="DejaVu Sans"/>
              </a:rPr>
              <a:t>Layered monolith</a:t>
            </a:r>
          </a:p>
        </p:txBody>
      </p:sp>
      <p:sp>
        <p:nvSpPr>
          <p:cNvPr id="4" name="">
            <a:extLst xmlns:a="http://schemas.openxmlformats.org/drawingml/2006/main">
              <a:ext uri="{FF2B5EF4-FFF2-40B4-BE49-F238E27FC236}">
                <a16:creationId xmlns:a16="http://schemas.microsoft.com/office/drawing/2014/main" id="{96C2F6E7-30C8-4E15-AB4D-25911F8D85C9}"/>
              </a:ext>
            </a:extLst>
          </p:cNvPr>
          <p:cNvSpPr>
            <a:spLocks xmlns:a="http://schemas.openxmlformats.org/drawingml/2006/main" noGrp="1"/>
          </p:cNvSpPr>
          <p:nvPr/>
        </p:nvSpPr>
        <p:spPr>
          <a:xfrm xmlns:a="http://schemas.openxmlformats.org/drawingml/2006/main">
            <a:off x="619125" y="2324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Security</a:t>
            </a:r>
          </a:p>
        </p:txBody>
      </p:sp>
      <p:sp>
        <p:nvSpPr>
          <p:cNvPr id="5" name="">
            <a:extLst xmlns:a="http://schemas.openxmlformats.org/drawingml/2006/main">
              <a:ext uri="{FF2B5EF4-FFF2-40B4-BE49-F238E27FC236}">
                <a16:creationId xmlns:a16="http://schemas.microsoft.com/office/drawing/2014/main" id="{5C238EFD-9134-4BA5-B377-10D76596E9E3}"/>
              </a:ext>
            </a:extLst>
          </p:cNvPr>
          <p:cNvSpPr>
            <a:spLocks xmlns:a="http://schemas.openxmlformats.org/drawingml/2006/main" noGrp="1"/>
          </p:cNvSpPr>
          <p:nvPr/>
        </p:nvSpPr>
        <p:spPr>
          <a:xfrm xmlns:a="http://schemas.openxmlformats.org/drawingml/2006/main">
            <a:off x="619125" y="2762250"/>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One server entry point. Permission checks stay beside visit rules.</a:t>
            </a:r>
          </a:p>
        </p:txBody>
      </p:sp>
      <p:sp>
        <p:nvSpPr>
          <p:cNvPr id="6" name="">
            <a:extLst xmlns:a="http://schemas.openxmlformats.org/drawingml/2006/main">
              <a:ext uri="{FF2B5EF4-FFF2-40B4-BE49-F238E27FC236}">
                <a16:creationId xmlns:a16="http://schemas.microsoft.com/office/drawing/2014/main" id="{C10FF797-E6E8-46EA-B3C3-D353A5CA02C6}"/>
              </a:ext>
            </a:extLst>
          </p:cNvPr>
          <p:cNvSpPr>
            <a:spLocks xmlns:a="http://schemas.openxmlformats.org/drawingml/2006/main" noGrp="1"/>
          </p:cNvSpPr>
          <p:nvPr/>
        </p:nvSpPr>
        <p:spPr>
          <a:xfrm xmlns:a="http://schemas.openxmlformats.org/drawingml/2006/main">
            <a:off x="619125" y="39433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Testability and maintenance</a:t>
            </a:r>
          </a:p>
        </p:txBody>
      </p:sp>
      <p:sp>
        <p:nvSpPr>
          <p:cNvPr id="7" name="">
            <a:extLst xmlns:a="http://schemas.openxmlformats.org/drawingml/2006/main">
              <a:ext uri="{FF2B5EF4-FFF2-40B4-BE49-F238E27FC236}">
                <a16:creationId xmlns:a16="http://schemas.microsoft.com/office/drawing/2014/main" id="{6012236B-A108-4CFF-9D86-61803C7616E8}"/>
              </a:ext>
            </a:extLst>
          </p:cNvPr>
          <p:cNvSpPr>
            <a:spLocks xmlns:a="http://schemas.openxmlformats.org/drawingml/2006/main" noGrp="1"/>
          </p:cNvSpPr>
          <p:nvPr/>
        </p:nvSpPr>
        <p:spPr>
          <a:xfrm xmlns:a="http://schemas.openxmlformats.org/drawingml/2006/main">
            <a:off x="619125" y="446722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Inject storage, time and actors.</a:t>
            </a:r>
          </a:p>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Keep screens separate from approval rules.</a:t>
            </a:r>
          </a:p>
        </p:txBody>
      </p:sp>
      <p:sp>
        <p:nvSpPr>
          <p:cNvPr id="8" name="">
            <a:extLst xmlns:a="http://schemas.openxmlformats.org/drawingml/2006/main">
              <a:ext uri="{FF2B5EF4-FFF2-40B4-BE49-F238E27FC236}">
                <a16:creationId xmlns:a16="http://schemas.microsoft.com/office/drawing/2014/main" id="{4D1A5CA3-D208-48D6-BF57-1608E4CBBDCF}"/>
              </a:ext>
            </a:extLst>
          </p:cNvPr>
          <p:cNvSpPr>
            <a:spLocks xmlns:a="http://schemas.openxmlformats.org/drawingml/2006/main" noGrp="1"/>
          </p:cNvSpPr>
          <p:nvPr/>
        </p:nvSpPr>
        <p:spPr>
          <a:xfrm xmlns:a="http://schemas.openxmlformats.org/drawingml/2006/main">
            <a:off x="6667500" y="23241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Rejected alternatives</a:t>
            </a:r>
          </a:p>
        </p:txBody>
      </p:sp>
      <p:sp>
        <p:nvSpPr>
          <p:cNvPr id="9" name="">
            <a:extLst xmlns:a="http://schemas.openxmlformats.org/drawingml/2006/main">
              <a:ext uri="{FF2B5EF4-FFF2-40B4-BE49-F238E27FC236}">
                <a16:creationId xmlns:a16="http://schemas.microsoft.com/office/drawing/2014/main" id="{F0420BE8-5D67-485B-8A77-089877E93A2A}"/>
              </a:ext>
            </a:extLst>
          </p:cNvPr>
          <p:cNvSpPr>
            <a:spLocks xmlns:a="http://schemas.openxmlformats.org/drawingml/2006/main" noGrp="1"/>
          </p:cNvSpPr>
          <p:nvPr/>
        </p:nvSpPr>
        <p:spPr>
          <a:xfrm xmlns:a="http://schemas.openxmlformats.org/drawingml/2006/main">
            <a:off x="6667500" y="284797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Microservices</a:t>
            </a:r>
          </a:p>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More deployments and network failure paths.</a:t>
            </a:r>
          </a:p>
        </p:txBody>
      </p:sp>
      <p:sp>
        <p:nvSpPr>
          <p:cNvPr id="10" name="">
            <a:extLst xmlns:a="http://schemas.openxmlformats.org/drawingml/2006/main">
              <a:ext uri="{FF2B5EF4-FFF2-40B4-BE49-F238E27FC236}">
                <a16:creationId xmlns:a16="http://schemas.microsoft.com/office/drawing/2014/main" id="{7BDADFB4-3E1A-473B-BCB3-4FA04F79F2EC}"/>
              </a:ext>
            </a:extLst>
          </p:cNvPr>
          <p:cNvSpPr>
            <a:spLocks xmlns:a="http://schemas.openxmlformats.org/drawingml/2006/main" noGrp="1"/>
          </p:cNvSpPr>
          <p:nvPr/>
        </p:nvSpPr>
        <p:spPr>
          <a:xfrm xmlns:a="http://schemas.openxmlformats.org/drawingml/2006/main">
            <a:off x="6667500" y="43529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Event-driven</a:t>
            </a:r>
          </a:p>
          <a:p xmlns:a="http://schemas.openxmlformats.org/drawingml/2006/main">
            <a:pPr>
              <a:defRPr sz="2025" b="0">
                <a:solidFill>
                  <a:srgbClr val="173E4F"/>
                </a:solidFill>
                <a:latin typeface="DejaVu Sans"/>
                <a:ea typeface="DejaVu Sans"/>
                <a:cs typeface="DejaVu Sans"/>
              </a:defRPr>
            </a:pPr>
            <a:r>
              <a:rPr sz="2025" b="0">
                <a:solidFill>
                  <a:srgbClr val="173E4F"/>
                </a:solidFill>
                <a:latin typeface="DejaVu Sans"/>
                <a:ea typeface="DejaVu Sans"/>
                <a:cs typeface="DejaVu Sans"/>
              </a:rPr>
              <a:t>Delayed or duplicate events complicate immediate gate checks.</a:t>
            </a:r>
          </a:p>
        </p:txBody>
      </p:sp>
      <p:sp>
        <p:nvSpPr>
          <p:cNvPr id="11" name="">
            <a:extLst xmlns:a="http://schemas.openxmlformats.org/drawingml/2006/main">
              <a:ext uri="{FF2B5EF4-FFF2-40B4-BE49-F238E27FC236}">
                <a16:creationId xmlns:a16="http://schemas.microsoft.com/office/drawing/2014/main" id="{B0D9B2BE-A40E-459B-829F-F10CA80B4741}"/>
              </a:ext>
            </a:extLst>
          </p:cNvPr>
          <p:cNvSpPr>
            <a:spLocks xmlns:a="http://schemas.openxmlformats.org/drawingml/2006/main" noGrp="1"/>
          </p:cNvSpPr>
          <p:nvPr/>
        </p:nvSpPr>
        <p:spPr>
          <a:xfrm xmlns:a="http://schemas.openxmlformats.org/drawingml/2006/main">
            <a:off x="619125" y="58388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C7078"/>
                </a:solidFill>
                <a:latin typeface="DejaVu Sans"/>
                <a:ea typeface="DejaVu Sans"/>
                <a:cs typeface="DejaVu Sans"/>
              </a:defRPr>
            </a:pPr>
            <a:r>
              <a:rPr sz="1725" b="0">
                <a:solidFill>
                  <a:srgbClr val="5C7078"/>
                </a:solidFill>
                <a:latin typeface="DejaVu Sans"/>
                <a:ea typeface="DejaVu Sans"/>
                <a:cs typeface="DejaVu Sans"/>
              </a:rPr>
              <a:t>Accepted cost: one deployment and failure domain</a:t>
            </a:r>
          </a:p>
        </p:txBody>
      </p:sp>
    </p:spTree>
    <p:extLst>
      <p:ext uri="{BB962C8B-B14F-4D97-AF65-F5344CB8AC3E}">
        <p14:creationId xmlns:p14="http://schemas.microsoft.com/office/powerpoint/2010/main" val="703436455"/>
      </p:ext>
    </p:extLst>
  </p:cSld>
</p:sld>
</file>

<file path=ppt/slides/slide3.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cxnSp>
        <p:nvCxnSpPr>
          <p:cNvPr id="33" name=""/>
          <p:cNvCxnSpPr>
            <a:stCxn xmlns:a="http://schemas.openxmlformats.org/drawingml/2006/main" id="17" idx="3"/>
            <a:endCxn xmlns:a="http://schemas.openxmlformats.org/drawingml/2006/main" id="20" idx="1"/>
          </p:cNvCxnSpPr>
          <p:nvPr/>
        </p:nvCxnSpPr>
        <p:spPr>
          <a:xfrm xmlns:a="http://schemas.openxmlformats.org/drawingml/2006/main">
            <a:off x="8943975" y="3619500"/>
            <a:ext cx="819150" cy="0"/>
          </a:xfrm>
          <a:prstGeom xmlns:a="http://schemas.openxmlformats.org/drawingml/2006/main" prst="straightConnector1">
            <a:avLst/>
          </a:prstGeom>
          <a:ln xmlns:a="http://schemas.openxmlformats.org/drawingml/2006/main" w="19050">
            <a:solidFill>
              <a:srgbClr val="55707B"/>
            </a:solidFill>
            <a:tailEnd type="arrow" w="med" len="med"/>
          </a:ln>
        </p:spPr>
      </p:cxnSp>
      <p:cxnSp>
        <p:nvCxnSpPr>
          <p:cNvPr id="34" name=""/>
          <p:cNvCxnSpPr>
            <a:stCxn xmlns:a="http://schemas.openxmlformats.org/drawingml/2006/main" id="14" idx="3"/>
            <a:endCxn xmlns:a="http://schemas.openxmlformats.org/drawingml/2006/main" id="17" idx="1"/>
          </p:cNvCxnSpPr>
          <p:nvPr/>
        </p:nvCxnSpPr>
        <p:spPr>
          <a:xfrm xmlns:a="http://schemas.openxmlformats.org/drawingml/2006/main">
            <a:off x="6953250" y="3619500"/>
            <a:ext cx="371475" cy="0"/>
          </a:xfrm>
          <a:prstGeom xmlns:a="http://schemas.openxmlformats.org/drawingml/2006/main" prst="straightConnector1">
            <a:avLst/>
          </a:prstGeom>
          <a:ln xmlns:a="http://schemas.openxmlformats.org/drawingml/2006/main" w="19050">
            <a:solidFill>
              <a:srgbClr val="55707B"/>
            </a:solidFill>
            <a:tailEnd type="arrow" w="med" len="med"/>
          </a:ln>
        </p:spPr>
      </p:cxnSp>
      <p:cxnSp>
        <p:nvCxnSpPr>
          <p:cNvPr id="35" name=""/>
          <p:cNvCxnSpPr>
            <a:stCxn xmlns:a="http://schemas.openxmlformats.org/drawingml/2006/main" id="11" idx="3"/>
            <a:endCxn xmlns:a="http://schemas.openxmlformats.org/drawingml/2006/main" id="14" idx="1"/>
          </p:cNvCxnSpPr>
          <p:nvPr/>
        </p:nvCxnSpPr>
        <p:spPr>
          <a:xfrm xmlns:a="http://schemas.openxmlformats.org/drawingml/2006/main">
            <a:off x="4772025" y="3619500"/>
            <a:ext cx="447675" cy="0"/>
          </a:xfrm>
          <a:prstGeom xmlns:a="http://schemas.openxmlformats.org/drawingml/2006/main" prst="straightConnector1">
            <a:avLst/>
          </a:prstGeom>
          <a:ln xmlns:a="http://schemas.openxmlformats.org/drawingml/2006/main" w="19050">
            <a:solidFill>
              <a:srgbClr val="55707B"/>
            </a:solidFill>
            <a:tailEnd type="arrow" w="med" len="med"/>
          </a:ln>
        </p:spPr>
      </p:cxnSp>
      <p:cxnSp>
        <p:nvCxnSpPr>
          <p:cNvPr id="36" name=""/>
          <p:cNvCxnSpPr>
            <a:stCxn xmlns:a="http://schemas.openxmlformats.org/drawingml/2006/main" id="8" idx="3"/>
            <a:endCxn xmlns:a="http://schemas.openxmlformats.org/drawingml/2006/main" id="11" idx="1"/>
          </p:cNvCxnSpPr>
          <p:nvPr/>
        </p:nvCxnSpPr>
        <p:spPr>
          <a:xfrm xmlns:a="http://schemas.openxmlformats.org/drawingml/2006/main">
            <a:off x="2228850" y="3619500"/>
            <a:ext cx="781050" cy="0"/>
          </a:xfrm>
          <a:prstGeom xmlns:a="http://schemas.openxmlformats.org/drawingml/2006/main" prst="straightConnector1">
            <a:avLst/>
          </a:prstGeom>
          <a:ln xmlns:a="http://schemas.openxmlformats.org/drawingml/2006/main" w="19050">
            <a:solidFill>
              <a:srgbClr val="55707B"/>
            </a:solidFill>
            <a:tailEnd type="arrow" w="med" len="med"/>
          </a:ln>
        </p:spPr>
      </p:cxnSp>
      <p:sp>
        <p:nvSpPr>
          <p:cNvPr id="37" name="">
            <a:extLst xmlns:a="http://schemas.openxmlformats.org/drawingml/2006/main">
              <a:ext uri="{FF2B5EF4-FFF2-40B4-BE49-F238E27FC236}">
                <a16:creationId xmlns:a16="http://schemas.microsoft.com/office/drawing/2014/main" id="{4328E734-68D6-4B64-8CC4-57FCFC00326F}"/>
              </a:ext>
            </a:extLst>
          </p:cNvPr>
          <p:cNvSpPr>
            <a:spLocks xmlns:a="http://schemas.openxmlformats.org/drawingml/2006/main" noGrp="1"/>
          </p:cNvSpPr>
          <p:nvPr/>
        </p:nvSpPr>
        <p:spPr>
          <a:xfrm xmlns:a="http://schemas.openxmlformats.org/drawingml/2006/main">
            <a:off x="619125"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73E4F"/>
                </a:solidFill>
                <a:latin typeface="DejaVu Sans"/>
                <a:ea typeface="DejaVu Sans"/>
                <a:cs typeface="DejaVu Sans"/>
              </a:defRPr>
            </a:pPr>
            <a:r>
              <a:rPr sz="3450" b="1">
                <a:solidFill>
                  <a:srgbClr val="173E4F"/>
                </a:solidFill>
                <a:latin typeface="DejaVu Sans"/>
                <a:ea typeface="DejaVu Sans"/>
                <a:cs typeface="DejaVu Sans"/>
              </a:rPr>
              <a:t>Components and trust boundaries</a:t>
            </a:r>
          </a:p>
        </p:txBody>
      </p:sp>
      <p:sp>
        <p:nvSpPr>
          <p:cNvPr id="2" name="">
            <a:extLst xmlns:a="http://schemas.openxmlformats.org/drawingml/2006/main">
              <a:ext uri="{FF2B5EF4-FFF2-40B4-BE49-F238E27FC236}">
                <a16:creationId xmlns:a16="http://schemas.microsoft.com/office/drawing/2014/main" id="{153874F4-E376-4392-B5C8-87D3F3F27BA4}"/>
              </a:ext>
            </a:extLst>
          </p:cNvPr>
          <p:cNvSpPr>
            <a:spLocks xmlns:a="http://schemas.openxmlformats.org/drawingml/2006/main" noGrp="1"/>
          </p:cNvSpPr>
          <p:nvPr/>
        </p:nvSpPr>
        <p:spPr>
          <a:xfrm xmlns:a="http://schemas.openxmlformats.org/drawingml/2006/main">
            <a:off x="10953750" y="62865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C7078"/>
                </a:solidFill>
                <a:latin typeface="DejaVu Sans"/>
                <a:ea typeface="DejaVu Sans"/>
                <a:cs typeface="DejaVu Sans"/>
              </a:defRPr>
            </a:pPr>
            <a:r>
              <a:rPr sz="1425" b="0">
                <a:solidFill>
                  <a:srgbClr val="5C7078"/>
                </a:solidFill>
                <a:latin typeface="DejaVu Sans"/>
                <a:ea typeface="DejaVu Sans"/>
                <a:cs typeface="DejaVu Sans"/>
              </a:rPr>
              <a:t>3 / 5</a:t>
            </a:r>
          </a:p>
        </p:txBody>
      </p:sp>
      <p:sp>
        <p:nvSpPr>
          <p:cNvPr id="3" name="">
            <a:extLst xmlns:a="http://schemas.openxmlformats.org/drawingml/2006/main">
              <a:ext uri="{FF2B5EF4-FFF2-40B4-BE49-F238E27FC236}">
                <a16:creationId xmlns:a16="http://schemas.microsoft.com/office/drawing/2014/main" id="{A17E57E7-FD62-42B8-83F6-5F64D115D02B}"/>
              </a:ext>
            </a:extLst>
          </p:cNvPr>
          <p:cNvSpPr>
            <a:spLocks xmlns:a="http://schemas.openxmlformats.org/drawingml/2006/main" noGrp="1"/>
          </p:cNvSpPr>
          <p:nvPr/>
        </p:nvSpPr>
        <p:spPr>
          <a:xfrm xmlns:a="http://schemas.openxmlformats.org/drawingml/2006/main">
            <a:off x="619125" y="14287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C7078"/>
                </a:solidFill>
                <a:latin typeface="DejaVu Sans"/>
                <a:ea typeface="DejaVu Sans"/>
                <a:cs typeface="DejaVu Sans"/>
              </a:defRPr>
            </a:pPr>
            <a:r>
              <a:rPr sz="1950" b="0">
                <a:solidFill>
                  <a:srgbClr val="5C7078"/>
                </a:solidFill>
                <a:latin typeface="DejaVu Sans"/>
                <a:ea typeface="DejaVu Sans"/>
                <a:cs typeface="DejaVu Sans"/>
              </a:rPr>
              <a:t>Proposed full system</a:t>
            </a:r>
          </a:p>
        </p:txBody>
      </p:sp>
      <p:sp>
        <p:nvSpPr>
          <p:cNvPr id="4" name="">
            <a:extLst xmlns:a="http://schemas.openxmlformats.org/drawingml/2006/main">
              <a:ext uri="{FF2B5EF4-FFF2-40B4-BE49-F238E27FC236}">
                <a16:creationId xmlns:a16="http://schemas.microsoft.com/office/drawing/2014/main" id="{023B9074-C541-4DF8-AFC9-22DA7532D6D7}"/>
              </a:ext>
            </a:extLst>
          </p:cNvPr>
          <p:cNvSpPr>
            <a:spLocks xmlns:a="http://schemas.openxmlformats.org/drawingml/2006/main" noGrp="1"/>
          </p:cNvSpPr>
          <p:nvPr/>
        </p:nvSpPr>
        <p:spPr>
          <a:xfrm xmlns:a="http://schemas.openxmlformats.org/drawingml/2006/main">
            <a:off x="2743200" y="2257425"/>
            <a:ext cx="6286500" cy="2543175"/>
          </a:xfrm>
          <a:prstGeom xmlns:a="http://schemas.openxmlformats.org/drawingml/2006/main" prst="rect">
            <a:avLst/>
          </a:prstGeom>
          <a:noFill xmlns:a="http://schemas.openxmlformats.org/drawingml/2006/main"/>
          <a:ln xmlns:a="http://schemas.openxmlformats.org/drawingml/2006/main" w="19050">
            <a:solidFill>
              <a:srgbClr val="5979A5"/>
            </a:solidFill>
            <a:prstDash val="dash"/>
          </a:ln>
        </p:spPr>
      </p:sp>
      <p:sp>
        <p:nvSpPr>
          <p:cNvPr id="5" name="">
            <a:extLst xmlns:a="http://schemas.openxmlformats.org/drawingml/2006/main">
              <a:ext uri="{FF2B5EF4-FFF2-40B4-BE49-F238E27FC236}">
                <a16:creationId xmlns:a16="http://schemas.microsoft.com/office/drawing/2014/main" id="{6FBB5FDC-4297-4DDD-BB20-BB312AD72D59}"/>
              </a:ext>
            </a:extLst>
          </p:cNvPr>
          <p:cNvSpPr>
            <a:spLocks xmlns:a="http://schemas.openxmlformats.org/drawingml/2006/main" noGrp="1"/>
          </p:cNvSpPr>
          <p:nvPr/>
        </p:nvSpPr>
        <p:spPr>
          <a:xfrm xmlns:a="http://schemas.openxmlformats.org/drawingml/2006/main">
            <a:off x="9544050" y="2257425"/>
            <a:ext cx="2095500" cy="2543175"/>
          </a:xfrm>
          <a:prstGeom xmlns:a="http://schemas.openxmlformats.org/drawingml/2006/main" prst="rect">
            <a:avLst/>
          </a:prstGeom>
          <a:noFill xmlns:a="http://schemas.openxmlformats.org/drawingml/2006/main"/>
          <a:ln xmlns:a="http://schemas.openxmlformats.org/drawingml/2006/main" w="19050">
            <a:solidFill>
              <a:srgbClr val="9B76A5"/>
            </a:solidFill>
            <a:prstDash val="dash"/>
          </a:ln>
        </p:spPr>
      </p:sp>
      <p:sp>
        <p:nvSpPr>
          <p:cNvPr id="6" name="">
            <a:extLst xmlns:a="http://schemas.openxmlformats.org/drawingml/2006/main">
              <a:ext uri="{FF2B5EF4-FFF2-40B4-BE49-F238E27FC236}">
                <a16:creationId xmlns:a16="http://schemas.microsoft.com/office/drawing/2014/main" id="{315742DE-CC56-4E3B-9F19-3D1B5416FA90}"/>
              </a:ext>
            </a:extLst>
          </p:cNvPr>
          <p:cNvSpPr>
            <a:spLocks xmlns:a="http://schemas.openxmlformats.org/drawingml/2006/main" noGrp="1"/>
          </p:cNvSpPr>
          <p:nvPr/>
        </p:nvSpPr>
        <p:spPr>
          <a:xfrm xmlns:a="http://schemas.openxmlformats.org/drawingml/2006/main">
            <a:off x="2876550" y="195262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270A4"/>
                </a:solidFill>
                <a:latin typeface="DejaVu Sans"/>
                <a:ea typeface="DejaVu Sans"/>
                <a:cs typeface="DejaVu Sans"/>
              </a:defRPr>
            </a:pPr>
            <a:r>
              <a:rPr sz="1650" b="0">
                <a:solidFill>
                  <a:srgbClr val="5270A4"/>
                </a:solidFill>
                <a:latin typeface="DejaVu Sans"/>
                <a:ea typeface="DejaVu Sans"/>
                <a:cs typeface="DejaVu Sans"/>
              </a:rPr>
              <a:t>Browser / server boundary</a:t>
            </a:r>
          </a:p>
        </p:txBody>
      </p:sp>
      <p:sp>
        <p:nvSpPr>
          <p:cNvPr id="7" name="">
            <a:extLst xmlns:a="http://schemas.openxmlformats.org/drawingml/2006/main">
              <a:ext uri="{FF2B5EF4-FFF2-40B4-BE49-F238E27FC236}">
                <a16:creationId xmlns:a16="http://schemas.microsoft.com/office/drawing/2014/main" id="{0A1163D2-202A-45BA-B283-F2FEDD11E386}"/>
              </a:ext>
            </a:extLst>
          </p:cNvPr>
          <p:cNvSpPr>
            <a:spLocks xmlns:a="http://schemas.openxmlformats.org/drawingml/2006/main" noGrp="1"/>
          </p:cNvSpPr>
          <p:nvPr/>
        </p:nvSpPr>
        <p:spPr>
          <a:xfrm xmlns:a="http://schemas.openxmlformats.org/drawingml/2006/main">
            <a:off x="9648825" y="1952625"/>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81588F"/>
                </a:solidFill>
                <a:latin typeface="DejaVu Sans"/>
                <a:ea typeface="DejaVu Sans"/>
                <a:cs typeface="DejaVu Sans"/>
              </a:defRPr>
            </a:pPr>
            <a:r>
              <a:rPr sz="1650" b="0">
                <a:solidFill>
                  <a:srgbClr val="81588F"/>
                </a:solidFill>
                <a:latin typeface="DejaVu Sans"/>
                <a:ea typeface="DejaVu Sans"/>
                <a:cs typeface="DejaVu Sans"/>
              </a:rPr>
              <a:t>Data boundary</a:t>
            </a:r>
          </a:p>
        </p:txBody>
      </p:sp>
      <p:sp>
        <p:nvSpPr>
          <p:cNvPr id="8" name="">
            <a:extLst xmlns:a="http://schemas.openxmlformats.org/drawingml/2006/main">
              <a:ext uri="{FF2B5EF4-FFF2-40B4-BE49-F238E27FC236}">
                <a16:creationId xmlns:a16="http://schemas.microsoft.com/office/drawing/2014/main" id="{84F7A857-FED7-44AE-B734-C499910B8A63}"/>
              </a:ext>
            </a:extLst>
          </p:cNvPr>
          <p:cNvSpPr>
            <a:spLocks xmlns:a="http://schemas.openxmlformats.org/drawingml/2006/main" noGrp="1"/>
          </p:cNvSpPr>
          <p:nvPr/>
        </p:nvSpPr>
        <p:spPr>
          <a:xfrm xmlns:a="http://schemas.openxmlformats.org/drawingml/2006/main">
            <a:off x="571500" y="2762250"/>
            <a:ext cx="1657350" cy="1714500"/>
          </a:xfrm>
          <a:prstGeom xmlns:a="http://schemas.openxmlformats.org/drawingml/2006/main" prst="rect">
            <a:avLst/>
          </a:prstGeom>
          <a:solidFill xmlns:a="http://schemas.openxmlformats.org/drawingml/2006/main">
            <a:srgbClr val="EDF2F9"/>
          </a:solidFill>
          <a:ln xmlns:a="http://schemas.openxmlformats.org/drawingml/2006/main" w="14288">
            <a:solidFill>
              <a:srgbClr val="71958B"/>
            </a:solidFill>
          </a:ln>
        </p:spPr>
      </p:sp>
      <p:sp>
        <p:nvSpPr>
          <p:cNvPr id="9" name="">
            <a:extLst xmlns:a="http://schemas.openxmlformats.org/drawingml/2006/main">
              <a:ext uri="{FF2B5EF4-FFF2-40B4-BE49-F238E27FC236}">
                <a16:creationId xmlns:a16="http://schemas.microsoft.com/office/drawing/2014/main" id="{C0E41229-61E9-4F86-A895-210D143D1C33}"/>
              </a:ext>
            </a:extLst>
          </p:cNvPr>
          <p:cNvSpPr>
            <a:spLocks xmlns:a="http://schemas.openxmlformats.org/drawingml/2006/main" noGrp="1"/>
          </p:cNvSpPr>
          <p:nvPr/>
        </p:nvSpPr>
        <p:spPr>
          <a:xfrm xmlns:a="http://schemas.openxmlformats.org/drawingml/2006/main">
            <a:off x="685800" y="2914650"/>
            <a:ext cx="142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73E4F"/>
                </a:solidFill>
                <a:latin typeface="DejaVu Sans"/>
                <a:ea typeface="DejaVu Sans"/>
                <a:cs typeface="DejaVu Sans"/>
              </a:defRPr>
            </a:pPr>
            <a:r>
              <a:rPr sz="1800" b="1">
                <a:solidFill>
                  <a:srgbClr val="173E4F"/>
                </a:solidFill>
                <a:latin typeface="DejaVu Sans"/>
                <a:ea typeface="DejaVu Sans"/>
                <a:cs typeface="DejaVu Sans"/>
              </a:rPr>
              <a:t>Browser</a:t>
            </a:r>
          </a:p>
        </p:txBody>
      </p:sp>
      <p:sp>
        <p:nvSpPr>
          <p:cNvPr id="10" name="">
            <a:extLst xmlns:a="http://schemas.openxmlformats.org/drawingml/2006/main">
              <a:ext uri="{FF2B5EF4-FFF2-40B4-BE49-F238E27FC236}">
                <a16:creationId xmlns:a16="http://schemas.microsoft.com/office/drawing/2014/main" id="{0FAB2F20-56F2-4FB8-999C-608D89779AC8}"/>
              </a:ext>
            </a:extLst>
          </p:cNvPr>
          <p:cNvSpPr>
            <a:spLocks xmlns:a="http://schemas.openxmlformats.org/drawingml/2006/main" noGrp="1"/>
          </p:cNvSpPr>
          <p:nvPr/>
        </p:nvSpPr>
        <p:spPr>
          <a:xfrm xmlns:a="http://schemas.openxmlformats.org/drawingml/2006/main">
            <a:off x="685800" y="35528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Visitor</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Host</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Guard</a:t>
            </a:r>
          </a:p>
        </p:txBody>
      </p:sp>
      <p:sp>
        <p:nvSpPr>
          <p:cNvPr id="11" name="">
            <a:extLst xmlns:a="http://schemas.openxmlformats.org/drawingml/2006/main">
              <a:ext uri="{FF2B5EF4-FFF2-40B4-BE49-F238E27FC236}">
                <a16:creationId xmlns:a16="http://schemas.microsoft.com/office/drawing/2014/main" id="{169FEA72-F577-4792-926C-539FF9282EC4}"/>
              </a:ext>
            </a:extLst>
          </p:cNvPr>
          <p:cNvSpPr>
            <a:spLocks xmlns:a="http://schemas.openxmlformats.org/drawingml/2006/main" noGrp="1"/>
          </p:cNvSpPr>
          <p:nvPr/>
        </p:nvSpPr>
        <p:spPr>
          <a:xfrm xmlns:a="http://schemas.openxmlformats.org/drawingml/2006/main">
            <a:off x="3009900" y="2762250"/>
            <a:ext cx="1762125" cy="1714500"/>
          </a:xfrm>
          <a:prstGeom xmlns:a="http://schemas.openxmlformats.org/drawingml/2006/main" prst="rect">
            <a:avLst/>
          </a:prstGeom>
          <a:solidFill xmlns:a="http://schemas.openxmlformats.org/drawingml/2006/main">
            <a:srgbClr val="EEF5F2"/>
          </a:solidFill>
          <a:ln xmlns:a="http://schemas.openxmlformats.org/drawingml/2006/main" w="14288">
            <a:solidFill>
              <a:srgbClr val="71958B"/>
            </a:solidFill>
          </a:ln>
        </p:spPr>
      </p:sp>
      <p:sp>
        <p:nvSpPr>
          <p:cNvPr id="12" name="">
            <a:extLst xmlns:a="http://schemas.openxmlformats.org/drawingml/2006/main">
              <a:ext uri="{FF2B5EF4-FFF2-40B4-BE49-F238E27FC236}">
                <a16:creationId xmlns:a16="http://schemas.microsoft.com/office/drawing/2014/main" id="{57557DA8-6E62-428E-9910-DF2C4AEEC7CE}"/>
              </a:ext>
            </a:extLst>
          </p:cNvPr>
          <p:cNvSpPr>
            <a:spLocks xmlns:a="http://schemas.openxmlformats.org/drawingml/2006/main" noGrp="1"/>
          </p:cNvSpPr>
          <p:nvPr/>
        </p:nvSpPr>
        <p:spPr>
          <a:xfrm xmlns:a="http://schemas.openxmlformats.org/drawingml/2006/main">
            <a:off x="3124200" y="2914650"/>
            <a:ext cx="15335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73E4F"/>
                </a:solidFill>
                <a:latin typeface="DejaVu Sans"/>
                <a:ea typeface="DejaVu Sans"/>
                <a:cs typeface="DejaVu Sans"/>
              </a:defRPr>
            </a:pPr>
            <a:r>
              <a:rPr sz="1800" b="1">
                <a:solidFill>
                  <a:srgbClr val="173E4F"/>
                </a:solidFill>
                <a:latin typeface="DejaVu Sans"/>
                <a:ea typeface="DejaVu Sans"/>
                <a:cs typeface="DejaVu Sans"/>
              </a:rPr>
              <a:t>HTTP + Auth</a:t>
            </a:r>
          </a:p>
        </p:txBody>
      </p:sp>
      <p:sp>
        <p:nvSpPr>
          <p:cNvPr id="13" name="">
            <a:extLst xmlns:a="http://schemas.openxmlformats.org/drawingml/2006/main">
              <a:ext uri="{FF2B5EF4-FFF2-40B4-BE49-F238E27FC236}">
                <a16:creationId xmlns:a16="http://schemas.microsoft.com/office/drawing/2014/main" id="{949A74D5-461E-4006-A2A2-0940EF68B47E}"/>
              </a:ext>
            </a:extLst>
          </p:cNvPr>
          <p:cNvSpPr>
            <a:spLocks xmlns:a="http://schemas.openxmlformats.org/drawingml/2006/main" noGrp="1"/>
          </p:cNvSpPr>
          <p:nvPr/>
        </p:nvSpPr>
        <p:spPr>
          <a:xfrm xmlns:a="http://schemas.openxmlformats.org/drawingml/2006/main">
            <a:off x="3124200" y="3552825"/>
            <a:ext cx="1533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Authenticate</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Validate</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Rate limit</a:t>
            </a:r>
          </a:p>
        </p:txBody>
      </p:sp>
      <p:sp>
        <p:nvSpPr>
          <p:cNvPr id="14" name="">
            <a:extLst xmlns:a="http://schemas.openxmlformats.org/drawingml/2006/main">
              <a:ext uri="{FF2B5EF4-FFF2-40B4-BE49-F238E27FC236}">
                <a16:creationId xmlns:a16="http://schemas.microsoft.com/office/drawing/2014/main" id="{D39EB51C-969A-40F8-95B8-319B2BC19104}"/>
              </a:ext>
            </a:extLst>
          </p:cNvPr>
          <p:cNvSpPr>
            <a:spLocks xmlns:a="http://schemas.openxmlformats.org/drawingml/2006/main" noGrp="1"/>
          </p:cNvSpPr>
          <p:nvPr/>
        </p:nvSpPr>
        <p:spPr>
          <a:xfrm xmlns:a="http://schemas.openxmlformats.org/drawingml/2006/main">
            <a:off x="5219700" y="2762250"/>
            <a:ext cx="1733550" cy="1714500"/>
          </a:xfrm>
          <a:prstGeom xmlns:a="http://schemas.openxmlformats.org/drawingml/2006/main" prst="rect">
            <a:avLst/>
          </a:prstGeom>
          <a:solidFill xmlns:a="http://schemas.openxmlformats.org/drawingml/2006/main">
            <a:srgbClr val="FFF3DC"/>
          </a:solidFill>
          <a:ln xmlns:a="http://schemas.openxmlformats.org/drawingml/2006/main" w="14288">
            <a:solidFill>
              <a:srgbClr val="71958B"/>
            </a:solidFill>
          </a:ln>
        </p:spPr>
      </p:sp>
      <p:sp>
        <p:nvSpPr>
          <p:cNvPr id="15" name="">
            <a:extLst xmlns:a="http://schemas.openxmlformats.org/drawingml/2006/main">
              <a:ext uri="{FF2B5EF4-FFF2-40B4-BE49-F238E27FC236}">
                <a16:creationId xmlns:a16="http://schemas.microsoft.com/office/drawing/2014/main" id="{2E16A41D-5DFC-4749-8EC1-8E3CF49E6116}"/>
              </a:ext>
            </a:extLst>
          </p:cNvPr>
          <p:cNvSpPr>
            <a:spLocks xmlns:a="http://schemas.openxmlformats.org/drawingml/2006/main" noGrp="1"/>
          </p:cNvSpPr>
          <p:nvPr/>
        </p:nvSpPr>
        <p:spPr>
          <a:xfrm xmlns:a="http://schemas.openxmlformats.org/drawingml/2006/main">
            <a:off x="5334000" y="2914650"/>
            <a:ext cx="1504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73E4F"/>
                </a:solidFill>
                <a:latin typeface="DejaVu Sans"/>
                <a:ea typeface="DejaVu Sans"/>
                <a:cs typeface="DejaVu Sans"/>
              </a:defRPr>
            </a:pPr>
            <a:r>
              <a:rPr sz="1800" b="1">
                <a:solidFill>
                  <a:srgbClr val="173E4F"/>
                </a:solidFill>
                <a:latin typeface="DejaVu Sans"/>
                <a:ea typeface="DejaVu Sans"/>
                <a:cs typeface="DejaVu Sans"/>
              </a:rPr>
              <a:t>Pass module</a:t>
            </a:r>
          </a:p>
        </p:txBody>
      </p:sp>
      <p:sp>
        <p:nvSpPr>
          <p:cNvPr id="16" name="">
            <a:extLst xmlns:a="http://schemas.openxmlformats.org/drawingml/2006/main">
              <a:ext uri="{FF2B5EF4-FFF2-40B4-BE49-F238E27FC236}">
                <a16:creationId xmlns:a16="http://schemas.microsoft.com/office/drawing/2014/main" id="{4B393BD8-A32A-40C4-B3A0-3D14C09D67BA}"/>
              </a:ext>
            </a:extLst>
          </p:cNvPr>
          <p:cNvSpPr>
            <a:spLocks xmlns:a="http://schemas.openxmlformats.org/drawingml/2006/main" noGrp="1"/>
          </p:cNvSpPr>
          <p:nvPr/>
        </p:nvSpPr>
        <p:spPr>
          <a:xfrm xmlns:a="http://schemas.openxmlformats.org/drawingml/2006/main">
            <a:off x="5334000" y="35528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Authorize</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Decide</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Audit</a:t>
            </a:r>
          </a:p>
        </p:txBody>
      </p:sp>
      <p:sp>
        <p:nvSpPr>
          <p:cNvPr id="17" name="">
            <a:extLst xmlns:a="http://schemas.openxmlformats.org/drawingml/2006/main">
              <a:ext uri="{FF2B5EF4-FFF2-40B4-BE49-F238E27FC236}">
                <a16:creationId xmlns:a16="http://schemas.microsoft.com/office/drawing/2014/main" id="{60D9CBCC-4CFE-47AE-AF2D-5B6FE9585099}"/>
              </a:ext>
            </a:extLst>
          </p:cNvPr>
          <p:cNvSpPr>
            <a:spLocks xmlns:a="http://schemas.openxmlformats.org/drawingml/2006/main" noGrp="1"/>
          </p:cNvSpPr>
          <p:nvPr/>
        </p:nvSpPr>
        <p:spPr>
          <a:xfrm xmlns:a="http://schemas.openxmlformats.org/drawingml/2006/main">
            <a:off x="7324725" y="2762250"/>
            <a:ext cx="1619250" cy="1714500"/>
          </a:xfrm>
          <a:prstGeom xmlns:a="http://schemas.openxmlformats.org/drawingml/2006/main" prst="rect">
            <a:avLst/>
          </a:prstGeom>
          <a:solidFill xmlns:a="http://schemas.openxmlformats.org/drawingml/2006/main">
            <a:srgbClr val="EDF2F9"/>
          </a:solidFill>
          <a:ln xmlns:a="http://schemas.openxmlformats.org/drawingml/2006/main" w="14288">
            <a:solidFill>
              <a:srgbClr val="71958B"/>
            </a:solidFill>
          </a:ln>
        </p:spPr>
      </p:sp>
      <p:sp>
        <p:nvSpPr>
          <p:cNvPr id="18" name="">
            <a:extLst xmlns:a="http://schemas.openxmlformats.org/drawingml/2006/main">
              <a:ext uri="{FF2B5EF4-FFF2-40B4-BE49-F238E27FC236}">
                <a16:creationId xmlns:a16="http://schemas.microsoft.com/office/drawing/2014/main" id="{6F548571-3270-42C7-8C56-03C9DE3B297A}"/>
              </a:ext>
            </a:extLst>
          </p:cNvPr>
          <p:cNvSpPr>
            <a:spLocks xmlns:a="http://schemas.openxmlformats.org/drawingml/2006/main" noGrp="1"/>
          </p:cNvSpPr>
          <p:nvPr/>
        </p:nvSpPr>
        <p:spPr>
          <a:xfrm xmlns:a="http://schemas.openxmlformats.org/drawingml/2006/main">
            <a:off x="7439025" y="2914650"/>
            <a:ext cx="1390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73E4F"/>
                </a:solidFill>
                <a:latin typeface="DejaVu Sans"/>
                <a:ea typeface="DejaVu Sans"/>
                <a:cs typeface="DejaVu Sans"/>
              </a:defRPr>
            </a:pPr>
            <a:r>
              <a:rPr sz="1800" b="1">
                <a:solidFill>
                  <a:srgbClr val="173E4F"/>
                </a:solidFill>
                <a:latin typeface="DejaVu Sans"/>
                <a:ea typeface="DejaVu Sans"/>
                <a:cs typeface="DejaVu Sans"/>
              </a:rPr>
              <a:t>Data access</a:t>
            </a:r>
          </a:p>
        </p:txBody>
      </p:sp>
      <p:sp>
        <p:nvSpPr>
          <p:cNvPr id="19" name="">
            <a:extLst xmlns:a="http://schemas.openxmlformats.org/drawingml/2006/main">
              <a:ext uri="{FF2B5EF4-FFF2-40B4-BE49-F238E27FC236}">
                <a16:creationId xmlns:a16="http://schemas.microsoft.com/office/drawing/2014/main" id="{DDF0F63F-5D11-4C30-88F6-73BADEF5C82D}"/>
              </a:ext>
            </a:extLst>
          </p:cNvPr>
          <p:cNvSpPr>
            <a:spLocks xmlns:a="http://schemas.openxmlformats.org/drawingml/2006/main" noGrp="1"/>
          </p:cNvSpPr>
          <p:nvPr/>
        </p:nvSpPr>
        <p:spPr>
          <a:xfrm xmlns:a="http://schemas.openxmlformats.org/drawingml/2006/main">
            <a:off x="7439025" y="3552825"/>
            <a:ext cx="1390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Interface</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SQL adapter</a:t>
            </a:r>
          </a:p>
        </p:txBody>
      </p:sp>
      <p:sp>
        <p:nvSpPr>
          <p:cNvPr id="20" name="">
            <a:extLst xmlns:a="http://schemas.openxmlformats.org/drawingml/2006/main">
              <a:ext uri="{FF2B5EF4-FFF2-40B4-BE49-F238E27FC236}">
                <a16:creationId xmlns:a16="http://schemas.microsoft.com/office/drawing/2014/main" id="{BFC0E90B-8A00-4E3F-B6B4-EE8C71040013}"/>
              </a:ext>
            </a:extLst>
          </p:cNvPr>
          <p:cNvSpPr>
            <a:spLocks xmlns:a="http://schemas.openxmlformats.org/drawingml/2006/main" noGrp="1"/>
          </p:cNvSpPr>
          <p:nvPr/>
        </p:nvSpPr>
        <p:spPr>
          <a:xfrm xmlns:a="http://schemas.openxmlformats.org/drawingml/2006/main">
            <a:off x="9763125" y="2762250"/>
            <a:ext cx="1666875" cy="1714500"/>
          </a:xfrm>
          <a:prstGeom xmlns:a="http://schemas.openxmlformats.org/drawingml/2006/main" prst="rect">
            <a:avLst/>
          </a:prstGeom>
          <a:solidFill xmlns:a="http://schemas.openxmlformats.org/drawingml/2006/main">
            <a:srgbClr val="F6EEF7"/>
          </a:solidFill>
          <a:ln xmlns:a="http://schemas.openxmlformats.org/drawingml/2006/main" w="14288">
            <a:solidFill>
              <a:srgbClr val="71958B"/>
            </a:solidFill>
          </a:ln>
        </p:spPr>
      </p:sp>
      <p:sp>
        <p:nvSpPr>
          <p:cNvPr id="21" name="">
            <a:extLst xmlns:a="http://schemas.openxmlformats.org/drawingml/2006/main">
              <a:ext uri="{FF2B5EF4-FFF2-40B4-BE49-F238E27FC236}">
                <a16:creationId xmlns:a16="http://schemas.microsoft.com/office/drawing/2014/main" id="{3D7A2AE3-1C50-466B-AE53-0A4D397C9C96}"/>
              </a:ext>
            </a:extLst>
          </p:cNvPr>
          <p:cNvSpPr>
            <a:spLocks xmlns:a="http://schemas.openxmlformats.org/drawingml/2006/main" noGrp="1"/>
          </p:cNvSpPr>
          <p:nvPr/>
        </p:nvSpPr>
        <p:spPr>
          <a:xfrm xmlns:a="http://schemas.openxmlformats.org/drawingml/2006/main">
            <a:off x="9877425" y="2914650"/>
            <a:ext cx="14382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73E4F"/>
                </a:solidFill>
                <a:latin typeface="DejaVu Sans"/>
                <a:ea typeface="DejaVu Sans"/>
                <a:cs typeface="DejaVu Sans"/>
              </a:defRPr>
            </a:pPr>
            <a:r>
              <a:rPr sz="1800" b="1">
                <a:solidFill>
                  <a:srgbClr val="173E4F"/>
                </a:solidFill>
                <a:latin typeface="DejaVu Sans"/>
                <a:ea typeface="DejaVu Sans"/>
                <a:cs typeface="DejaVu Sans"/>
              </a:rPr>
              <a:t>Database</a:t>
            </a:r>
          </a:p>
        </p:txBody>
      </p:sp>
      <p:sp>
        <p:nvSpPr>
          <p:cNvPr id="22" name="">
            <a:extLst xmlns:a="http://schemas.openxmlformats.org/drawingml/2006/main">
              <a:ext uri="{FF2B5EF4-FFF2-40B4-BE49-F238E27FC236}">
                <a16:creationId xmlns:a16="http://schemas.microsoft.com/office/drawing/2014/main" id="{82C04258-0354-4B03-BE9F-43866DFE491A}"/>
              </a:ext>
            </a:extLst>
          </p:cNvPr>
          <p:cNvSpPr>
            <a:spLocks xmlns:a="http://schemas.openxmlformats.org/drawingml/2006/main" noGrp="1"/>
          </p:cNvSpPr>
          <p:nvPr/>
        </p:nvSpPr>
        <p:spPr>
          <a:xfrm xmlns:a="http://schemas.openxmlformats.org/drawingml/2006/main">
            <a:off x="9877425" y="3552825"/>
            <a:ext cx="14382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Private</a:t>
            </a:r>
          </a:p>
          <a:p xmlns:a="http://schemas.openxmlformats.org/drawingml/2006/main">
            <a:pPr>
              <a:defRPr sz="1725" b="0">
                <a:solidFill>
                  <a:srgbClr val="173E4F"/>
                </a:solidFill>
                <a:latin typeface="DejaVu Sans"/>
                <a:ea typeface="DejaVu Sans"/>
                <a:cs typeface="DejaVu Sans"/>
              </a:defRPr>
            </a:pPr>
            <a:r>
              <a:rPr sz="1725" b="0">
                <a:solidFill>
                  <a:srgbClr val="173E4F"/>
                </a:solidFill>
                <a:latin typeface="DejaVu Sans"/>
                <a:ea typeface="DejaVu Sans"/>
                <a:cs typeface="DejaVu Sans"/>
              </a:rPr>
              <a:t>Encrypted</a:t>
            </a:r>
          </a:p>
        </p:txBody>
      </p:sp>
      <p:sp>
        <p:nvSpPr>
          <p:cNvPr id="27" name="">
            <a:extLst xmlns:a="http://schemas.openxmlformats.org/drawingml/2006/main">
              <a:ext uri="{FF2B5EF4-FFF2-40B4-BE49-F238E27FC236}">
                <a16:creationId xmlns:a16="http://schemas.microsoft.com/office/drawing/2014/main" id="{DC7A3AF6-3C7A-48E3-B1B8-770A4B3FFAA3}"/>
              </a:ext>
            </a:extLst>
          </p:cNvPr>
          <p:cNvSpPr>
            <a:spLocks xmlns:a="http://schemas.openxmlformats.org/drawingml/2006/main" noGrp="1"/>
          </p:cNvSpPr>
          <p:nvPr/>
        </p:nvSpPr>
        <p:spPr>
          <a:xfrm xmlns:a="http://schemas.openxmlformats.org/drawingml/2006/main">
            <a:off x="2228850" y="2466975"/>
            <a:ext cx="828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C7078"/>
                </a:solidFill>
                <a:latin typeface="DejaVu Sans"/>
                <a:ea typeface="DejaVu Sans"/>
                <a:cs typeface="DejaVu Sans"/>
              </a:defRPr>
            </a:pPr>
            <a:r>
              <a:rPr sz="1500" b="0">
                <a:solidFill>
                  <a:srgbClr val="5C7078"/>
                </a:solidFill>
                <a:latin typeface="DejaVu Sans"/>
                <a:ea typeface="DejaVu Sans"/>
                <a:cs typeface="DejaVu Sans"/>
              </a:rPr>
              <a:t>HTTPS</a:t>
            </a:r>
          </a:p>
        </p:txBody>
      </p:sp>
      <p:sp>
        <p:nvSpPr>
          <p:cNvPr id="28" name="">
            <a:extLst xmlns:a="http://schemas.openxmlformats.org/drawingml/2006/main">
              <a:ext uri="{FF2B5EF4-FFF2-40B4-BE49-F238E27FC236}">
                <a16:creationId xmlns:a16="http://schemas.microsoft.com/office/drawing/2014/main" id="{9EE0B1F6-7B11-405C-B518-EBB2E8E06503}"/>
              </a:ext>
            </a:extLst>
          </p:cNvPr>
          <p:cNvSpPr>
            <a:spLocks xmlns:a="http://schemas.openxmlformats.org/drawingml/2006/main" noGrp="1"/>
          </p:cNvSpPr>
          <p:nvPr/>
        </p:nvSpPr>
        <p:spPr>
          <a:xfrm xmlns:a="http://schemas.openxmlformats.org/drawingml/2006/main">
            <a:off x="4772025" y="246697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C7078"/>
                </a:solidFill>
                <a:latin typeface="DejaVu Sans"/>
                <a:ea typeface="DejaVu Sans"/>
                <a:cs typeface="DejaVu Sans"/>
              </a:defRPr>
            </a:pPr>
            <a:r>
              <a:rPr sz="1500" b="0">
                <a:solidFill>
                  <a:srgbClr val="5C7078"/>
                </a:solidFill>
                <a:latin typeface="DejaVu Sans"/>
                <a:ea typeface="DejaVu Sans"/>
                <a:cs typeface="DejaVu Sans"/>
              </a:rPr>
              <a:t>actor</a:t>
            </a:r>
          </a:p>
        </p:txBody>
      </p:sp>
      <p:sp>
        <p:nvSpPr>
          <p:cNvPr id="29" name="">
            <a:extLst xmlns:a="http://schemas.openxmlformats.org/drawingml/2006/main">
              <a:ext uri="{FF2B5EF4-FFF2-40B4-BE49-F238E27FC236}">
                <a16:creationId xmlns:a16="http://schemas.microsoft.com/office/drawing/2014/main" id="{4DD8B3CD-B031-41E0-942E-A31067097565}"/>
              </a:ext>
            </a:extLst>
          </p:cNvPr>
          <p:cNvSpPr>
            <a:spLocks xmlns:a="http://schemas.openxmlformats.org/drawingml/2006/main" noGrp="1"/>
          </p:cNvSpPr>
          <p:nvPr/>
        </p:nvSpPr>
        <p:spPr>
          <a:xfrm xmlns:a="http://schemas.openxmlformats.org/drawingml/2006/main">
            <a:off x="6886575" y="2466975"/>
            <a:ext cx="118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C7078"/>
                </a:solidFill>
                <a:latin typeface="DejaVu Sans"/>
                <a:ea typeface="DejaVu Sans"/>
                <a:cs typeface="DejaVu Sans"/>
              </a:defRPr>
            </a:pPr>
            <a:r>
              <a:rPr sz="1500" b="0">
                <a:solidFill>
                  <a:srgbClr val="5C7078"/>
                </a:solidFill>
                <a:latin typeface="DejaVu Sans"/>
                <a:ea typeface="DejaVu Sans"/>
                <a:cs typeface="DejaVu Sans"/>
              </a:rPr>
              <a:t>read/write</a:t>
            </a:r>
          </a:p>
        </p:txBody>
      </p:sp>
      <p:sp>
        <p:nvSpPr>
          <p:cNvPr id="30" name="">
            <a:extLst xmlns:a="http://schemas.openxmlformats.org/drawingml/2006/main">
              <a:ext uri="{FF2B5EF4-FFF2-40B4-BE49-F238E27FC236}">
                <a16:creationId xmlns:a16="http://schemas.microsoft.com/office/drawing/2014/main" id="{6197BBEE-A387-4605-9EF0-785E9AD6F9B3}"/>
              </a:ext>
            </a:extLst>
          </p:cNvPr>
          <p:cNvSpPr>
            <a:spLocks xmlns:a="http://schemas.openxmlformats.org/drawingml/2006/main" noGrp="1"/>
          </p:cNvSpPr>
          <p:nvPr/>
        </p:nvSpPr>
        <p:spPr>
          <a:xfrm xmlns:a="http://schemas.openxmlformats.org/drawingml/2006/main">
            <a:off x="8829675" y="2466975"/>
            <a:ext cx="942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C7078"/>
                </a:solidFill>
                <a:latin typeface="DejaVu Sans"/>
                <a:ea typeface="DejaVu Sans"/>
                <a:cs typeface="DejaVu Sans"/>
              </a:defRPr>
            </a:pPr>
            <a:r>
              <a:rPr sz="1500" b="0">
                <a:solidFill>
                  <a:srgbClr val="5C7078"/>
                </a:solidFill>
                <a:latin typeface="DejaVu Sans"/>
                <a:ea typeface="DejaVu Sans"/>
                <a:cs typeface="DejaVu Sans"/>
              </a:rPr>
              <a:t>TLS SQL</a:t>
            </a:r>
          </a:p>
        </p:txBody>
      </p:sp>
      <p:sp>
        <p:nvSpPr>
          <p:cNvPr id="31" name="">
            <a:extLst xmlns:a="http://schemas.openxmlformats.org/drawingml/2006/main">
              <a:ext uri="{FF2B5EF4-FFF2-40B4-BE49-F238E27FC236}">
                <a16:creationId xmlns:a16="http://schemas.microsoft.com/office/drawing/2014/main" id="{BAFDA1A7-D5F9-42BA-9F65-F5E9A0030956}"/>
              </a:ext>
            </a:extLst>
          </p:cNvPr>
          <p:cNvSpPr>
            <a:spLocks xmlns:a="http://schemas.openxmlformats.org/drawingml/2006/main" noGrp="1"/>
          </p:cNvSpPr>
          <p:nvPr/>
        </p:nvSpPr>
        <p:spPr>
          <a:xfrm xmlns:a="http://schemas.openxmlformats.org/drawingml/2006/main">
            <a:off x="2924175" y="4953000"/>
            <a:ext cx="8401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6653"/>
                </a:solidFill>
                <a:latin typeface="DejaVu Sans"/>
                <a:ea typeface="DejaVu Sans"/>
                <a:cs typeface="DejaVu Sans"/>
              </a:defRPr>
            </a:pPr>
            <a:r>
              <a:rPr sz="2025" b="1">
                <a:solidFill>
                  <a:srgbClr val="176653"/>
                </a:solidFill>
                <a:latin typeface="DejaVu Sans"/>
                <a:ea typeface="DejaVu Sans"/>
                <a:cs typeface="DejaVu Sans"/>
              </a:rPr>
              <a:t>One server deployment contains the internal modules</a:t>
            </a:r>
          </a:p>
        </p:txBody>
      </p:sp>
      <p:sp>
        <p:nvSpPr>
          <p:cNvPr id="32" name="">
            <a:extLst xmlns:a="http://schemas.openxmlformats.org/drawingml/2006/main">
              <a:ext uri="{FF2B5EF4-FFF2-40B4-BE49-F238E27FC236}">
                <a16:creationId xmlns:a16="http://schemas.microsoft.com/office/drawing/2014/main" id="{7FF7B65E-1289-4C9F-949E-805E4209C0C8}"/>
              </a:ext>
            </a:extLst>
          </p:cNvPr>
          <p:cNvSpPr>
            <a:spLocks xmlns:a="http://schemas.openxmlformats.org/drawingml/2006/main" noGrp="1"/>
          </p:cNvSpPr>
          <p:nvPr/>
        </p:nvSpPr>
        <p:spPr>
          <a:xfrm xmlns:a="http://schemas.openxmlformats.org/drawingml/2006/main">
            <a:off x="619125" y="5610225"/>
            <a:ext cx="10334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C7078"/>
                </a:solidFill>
                <a:latin typeface="DejaVu Sans"/>
                <a:ea typeface="DejaVu Sans"/>
                <a:cs typeface="DejaVu Sans"/>
              </a:defRPr>
            </a:pPr>
            <a:r>
              <a:rPr sz="1875" b="0">
                <a:solidFill>
                  <a:srgbClr val="5C7078"/>
                </a:solidFill>
                <a:latin typeface="DejaVu Sans"/>
                <a:ea typeface="DejaVu Sans"/>
                <a:cs typeface="DejaVu Sans"/>
              </a:rPr>
              <a:t>Proof: simulated roles and memory</a:t>
            </a:r>
          </a:p>
          <a:p xmlns:a="http://schemas.openxmlformats.org/drawingml/2006/main">
            <a:pPr>
              <a:defRPr sz="1875" b="0">
                <a:solidFill>
                  <a:srgbClr val="5C7078"/>
                </a:solidFill>
                <a:latin typeface="DejaVu Sans"/>
                <a:ea typeface="DejaVu Sans"/>
                <a:cs typeface="DejaVu Sans"/>
              </a:defRPr>
            </a:pPr>
            <a:r>
              <a:rPr sz="1875" b="0">
                <a:solidFill>
                  <a:srgbClr val="5C7078"/>
                </a:solidFill>
                <a:latin typeface="DejaVu Sans"/>
                <a:ea typeface="DejaVu Sans"/>
                <a:cs typeface="DejaVu Sans"/>
              </a:rPr>
              <a:t>Full system: trusted server identity and protected data</a:t>
            </a:r>
          </a:p>
        </p:txBody>
      </p:sp>
    </p:spTree>
    <p:extLst>
      <p:ext uri="{BB962C8B-B14F-4D97-AF65-F5344CB8AC3E}">
        <p14:creationId xmlns:p14="http://schemas.microsoft.com/office/powerpoint/2010/main" val="668107097"/>
      </p:ext>
    </p:extLst>
  </p:cSld>
</p:sld>
</file>

<file path=ppt/slides/slide4.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842067-2977-4DF3-84EF-A16E936CB5D2}"/>
              </a:ext>
            </a:extLst>
          </p:cNvPr>
          <p:cNvSpPr>
            <a:spLocks xmlns:a="http://schemas.openxmlformats.org/drawingml/2006/main" noGrp="1"/>
          </p:cNvSpPr>
          <p:nvPr/>
        </p:nvSpPr>
        <p:spPr>
          <a:xfrm xmlns:a="http://schemas.openxmlformats.org/drawingml/2006/main">
            <a:off x="619125"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73E4F"/>
                </a:solidFill>
                <a:latin typeface="DejaVu Sans"/>
                <a:ea typeface="DejaVu Sans"/>
                <a:cs typeface="DejaVu Sans"/>
              </a:defRPr>
            </a:pPr>
            <a:r>
              <a:rPr sz="3450" b="1">
                <a:solidFill>
                  <a:srgbClr val="173E4F"/>
                </a:solidFill>
                <a:latin typeface="DejaVu Sans"/>
                <a:ea typeface="DejaVu Sans"/>
                <a:cs typeface="DejaVu Sans"/>
              </a:rPr>
              <a:t>Decisions and evidence</a:t>
            </a:r>
          </a:p>
        </p:txBody>
      </p:sp>
      <p:sp>
        <p:nvSpPr>
          <p:cNvPr id="2" name="">
            <a:extLst xmlns:a="http://schemas.openxmlformats.org/drawingml/2006/main">
              <a:ext uri="{FF2B5EF4-FFF2-40B4-BE49-F238E27FC236}">
                <a16:creationId xmlns:a16="http://schemas.microsoft.com/office/drawing/2014/main" id="{B9AC78D7-FB60-4831-B769-BBE31D90B2CB}"/>
              </a:ext>
            </a:extLst>
          </p:cNvPr>
          <p:cNvSpPr>
            <a:spLocks xmlns:a="http://schemas.openxmlformats.org/drawingml/2006/main" noGrp="1"/>
          </p:cNvSpPr>
          <p:nvPr/>
        </p:nvSpPr>
        <p:spPr>
          <a:xfrm xmlns:a="http://schemas.openxmlformats.org/drawingml/2006/main">
            <a:off x="10953750" y="62865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C7078"/>
                </a:solidFill>
                <a:latin typeface="DejaVu Sans"/>
                <a:ea typeface="DejaVu Sans"/>
                <a:cs typeface="DejaVu Sans"/>
              </a:defRPr>
            </a:pPr>
            <a:r>
              <a:rPr sz="1425" b="0">
                <a:solidFill>
                  <a:srgbClr val="5C7078"/>
                </a:solidFill>
                <a:latin typeface="DejaVu Sans"/>
                <a:ea typeface="DejaVu Sans"/>
                <a:cs typeface="DejaVu Sans"/>
              </a:rPr>
              <a:t>4 / 5</a:t>
            </a:r>
          </a:p>
        </p:txBody>
      </p:sp>
      <p:sp>
        <p:nvSpPr>
          <p:cNvPr id="3" name="">
            <a:extLst xmlns:a="http://schemas.openxmlformats.org/drawingml/2006/main">
              <a:ext uri="{FF2B5EF4-FFF2-40B4-BE49-F238E27FC236}">
                <a16:creationId xmlns:a16="http://schemas.microsoft.com/office/drawing/2014/main" id="{9F21005F-7953-4CA7-AC27-D3A2665DA3D0}"/>
              </a:ext>
            </a:extLst>
          </p:cNvPr>
          <p:cNvSpPr>
            <a:spLocks xmlns:a="http://schemas.openxmlformats.org/drawingml/2006/main" noGrp="1"/>
          </p:cNvSpPr>
          <p:nvPr/>
        </p:nvSpPr>
        <p:spPr>
          <a:xfrm xmlns:a="http://schemas.openxmlformats.org/drawingml/2006/main">
            <a:off x="619125" y="16097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6653"/>
                </a:solidFill>
                <a:latin typeface="DejaVu Sans"/>
                <a:ea typeface="DejaVu Sans"/>
                <a:cs typeface="DejaVu Sans"/>
              </a:defRPr>
            </a:pPr>
            <a:r>
              <a:rPr sz="2250" b="1">
                <a:solidFill>
                  <a:srgbClr val="176653"/>
                </a:solidFill>
                <a:latin typeface="DejaVu Sans"/>
                <a:ea typeface="DejaVu Sans"/>
                <a:cs typeface="DejaVu Sans"/>
              </a:rPr>
              <a:t>ADR 001</a:t>
            </a:r>
          </a:p>
        </p:txBody>
      </p:sp>
      <p:sp>
        <p:nvSpPr>
          <p:cNvPr id="4" name="">
            <a:extLst xmlns:a="http://schemas.openxmlformats.org/drawingml/2006/main">
              <a:ext uri="{FF2B5EF4-FFF2-40B4-BE49-F238E27FC236}">
                <a16:creationId xmlns:a16="http://schemas.microsoft.com/office/drawing/2014/main" id="{BA1BD0E1-D089-41DF-B76F-427B4A5F2066}"/>
              </a:ext>
            </a:extLst>
          </p:cNvPr>
          <p:cNvSpPr>
            <a:spLocks xmlns:a="http://schemas.openxmlformats.org/drawingml/2006/main" noGrp="1"/>
          </p:cNvSpPr>
          <p:nvPr/>
        </p:nvSpPr>
        <p:spPr>
          <a:xfrm xmlns:a="http://schemas.openxmlformats.org/drawingml/2006/main">
            <a:off x="619125" y="20669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73E4F"/>
                </a:solidFill>
                <a:latin typeface="DejaVu Sans"/>
                <a:ea typeface="DejaVu Sans"/>
                <a:cs typeface="DejaVu Sans"/>
              </a:defRPr>
            </a:pPr>
            <a:r>
              <a:rPr sz="2175" b="0">
                <a:solidFill>
                  <a:srgbClr val="173E4F"/>
                </a:solidFill>
                <a:latin typeface="DejaVu Sans"/>
                <a:ea typeface="DejaVu Sans"/>
                <a:cs typeface="DejaVu Sans"/>
              </a:rPr>
              <a:t>One deployment, separate internal layers.</a:t>
            </a:r>
          </a:p>
          <a:p xmlns:a="http://schemas.openxmlformats.org/drawingml/2006/main">
            <a:pPr>
              <a:defRPr sz="2175" b="0">
                <a:solidFill>
                  <a:srgbClr val="173E4F"/>
                </a:solidFill>
                <a:latin typeface="DejaVu Sans"/>
                <a:ea typeface="DejaVu Sans"/>
                <a:cs typeface="DejaVu Sans"/>
              </a:defRPr>
            </a:pPr>
            <a:r>
              <a:rPr sz="2175" b="0">
                <a:solidFill>
                  <a:srgbClr val="173E4F"/>
                </a:solidFill>
                <a:latin typeface="DejaVu Sans"/>
                <a:ea typeface="DejaVu Sans"/>
                <a:cs typeface="DejaVu Sans"/>
              </a:rPr>
              <a:t>Accept shared outage and scaling limits.</a:t>
            </a:r>
          </a:p>
        </p:txBody>
      </p:sp>
      <p:sp>
        <p:nvSpPr>
          <p:cNvPr id="5" name="">
            <a:extLst xmlns:a="http://schemas.openxmlformats.org/drawingml/2006/main">
              <a:ext uri="{FF2B5EF4-FFF2-40B4-BE49-F238E27FC236}">
                <a16:creationId xmlns:a16="http://schemas.microsoft.com/office/drawing/2014/main" id="{5A587DDB-0DED-470D-B9B1-618D77D0B731}"/>
              </a:ext>
            </a:extLst>
          </p:cNvPr>
          <p:cNvSpPr>
            <a:spLocks xmlns:a="http://schemas.openxmlformats.org/drawingml/2006/main" noGrp="1"/>
          </p:cNvSpPr>
          <p:nvPr/>
        </p:nvSpPr>
        <p:spPr>
          <a:xfrm xmlns:a="http://schemas.openxmlformats.org/drawingml/2006/main">
            <a:off x="619125" y="31813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6653"/>
                </a:solidFill>
                <a:latin typeface="DejaVu Sans"/>
                <a:ea typeface="DejaVu Sans"/>
                <a:cs typeface="DejaVu Sans"/>
              </a:defRPr>
            </a:pPr>
            <a:r>
              <a:rPr sz="2250" b="1">
                <a:solidFill>
                  <a:srgbClr val="176653"/>
                </a:solidFill>
                <a:latin typeface="DejaVu Sans"/>
                <a:ea typeface="DejaVu Sans"/>
                <a:cs typeface="DejaVu Sans"/>
              </a:rPr>
              <a:t>ADR 002</a:t>
            </a:r>
          </a:p>
        </p:txBody>
      </p:sp>
      <p:sp>
        <p:nvSpPr>
          <p:cNvPr id="6" name="">
            <a:extLst xmlns:a="http://schemas.openxmlformats.org/drawingml/2006/main">
              <a:ext uri="{FF2B5EF4-FFF2-40B4-BE49-F238E27FC236}">
                <a16:creationId xmlns:a16="http://schemas.microsoft.com/office/drawing/2014/main" id="{59F97603-F205-4F4B-99FF-A027AE9F780F}"/>
              </a:ext>
            </a:extLst>
          </p:cNvPr>
          <p:cNvSpPr>
            <a:spLocks xmlns:a="http://schemas.openxmlformats.org/drawingml/2006/main" noGrp="1"/>
          </p:cNvSpPr>
          <p:nvPr/>
        </p:nvSpPr>
        <p:spPr>
          <a:xfrm xmlns:a="http://schemas.openxmlformats.org/drawingml/2006/main">
            <a:off x="619125" y="36385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73E4F"/>
                </a:solidFill>
                <a:latin typeface="DejaVu Sans"/>
                <a:ea typeface="DejaVu Sans"/>
                <a:cs typeface="DejaVu Sans"/>
              </a:defRPr>
            </a:pPr>
            <a:r>
              <a:rPr sz="2175" b="0">
                <a:solidFill>
                  <a:srgbClr val="173E4F"/>
                </a:solidFill>
                <a:latin typeface="DejaVu Sans"/>
                <a:ea typeface="DejaVu Sans"/>
                <a:cs typeface="DejaVu Sans"/>
              </a:rPr>
              <a:t>Inject repository, actor, clock, code and audit sink.</a:t>
            </a:r>
          </a:p>
          <a:p xmlns:a="http://schemas.openxmlformats.org/drawingml/2006/main">
            <a:pPr>
              <a:defRPr sz="2175" b="0">
                <a:solidFill>
                  <a:srgbClr val="173E4F"/>
                </a:solidFill>
                <a:latin typeface="DejaVu Sans"/>
                <a:ea typeface="DejaVu Sans"/>
                <a:cs typeface="DejaVu Sans"/>
              </a:defRPr>
            </a:pPr>
            <a:r>
              <a:rPr sz="2175" b="0">
                <a:solidFill>
                  <a:srgbClr val="173E4F"/>
                </a:solidFill>
                <a:latin typeface="DejaVu Sans"/>
                <a:ea typeface="DejaVu Sans"/>
                <a:cs typeface="DejaVu Sans"/>
              </a:rPr>
              <a:t>Replace fakes with trusted server dependencies.</a:t>
            </a:r>
          </a:p>
        </p:txBody>
      </p:sp>
      <p:sp>
        <p:nvSpPr>
          <p:cNvPr id="7" name="">
            <a:extLst xmlns:a="http://schemas.openxmlformats.org/drawingml/2006/main">
              <a:ext uri="{FF2B5EF4-FFF2-40B4-BE49-F238E27FC236}">
                <a16:creationId xmlns:a16="http://schemas.microsoft.com/office/drawing/2014/main" id="{89729445-9C17-4125-80DB-18EB84FFD7BC}"/>
              </a:ext>
            </a:extLst>
          </p:cNvPr>
          <p:cNvSpPr>
            <a:spLocks xmlns:a="http://schemas.openxmlformats.org/drawingml/2006/main" noGrp="1"/>
          </p:cNvSpPr>
          <p:nvPr/>
        </p:nvSpPr>
        <p:spPr>
          <a:xfrm xmlns:a="http://schemas.openxmlformats.org/drawingml/2006/main">
            <a:off x="619125" y="4772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73E4F"/>
                </a:solidFill>
                <a:latin typeface="DejaVu Sans"/>
                <a:ea typeface="DejaVu Sans"/>
                <a:cs typeface="DejaVu Sans"/>
              </a:defRPr>
            </a:pPr>
            <a:r>
              <a:rPr sz="2400" b="1">
                <a:solidFill>
                  <a:srgbClr val="173E4F"/>
                </a:solidFill>
                <a:latin typeface="DejaVu Sans"/>
                <a:ea typeface="DejaVu Sans"/>
                <a:cs typeface="DejaVu Sans"/>
              </a:rPr>
              <a:t>18 service checks passed</a:t>
            </a:r>
          </a:p>
        </p:txBody>
      </p:sp>
      <p:sp>
        <p:nvSpPr>
          <p:cNvPr id="8" name="">
            <a:extLst xmlns:a="http://schemas.openxmlformats.org/drawingml/2006/main">
              <a:ext uri="{FF2B5EF4-FFF2-40B4-BE49-F238E27FC236}">
                <a16:creationId xmlns:a16="http://schemas.microsoft.com/office/drawing/2014/main" id="{EC16DD09-7B41-4C2C-84DC-87629948200A}"/>
              </a:ext>
            </a:extLst>
          </p:cNvPr>
          <p:cNvSpPr>
            <a:spLocks xmlns:a="http://schemas.openxmlformats.org/drawingml/2006/main" noGrp="1"/>
          </p:cNvSpPr>
          <p:nvPr/>
        </p:nvSpPr>
        <p:spPr>
          <a:xfrm xmlns:a="http://schemas.openxmlformats.org/drawingml/2006/main">
            <a:off x="619125" y="53054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5C7078"/>
                </a:solidFill>
                <a:latin typeface="DejaVu Sans"/>
                <a:ea typeface="DejaVu Sans"/>
                <a:cs typeface="DejaVu Sans"/>
              </a:defRPr>
            </a:pPr>
            <a:r>
              <a:rPr sz="2025" b="0">
                <a:solidFill>
                  <a:srgbClr val="5C7078"/>
                </a:solidFill>
                <a:latin typeface="DejaVu Sans"/>
                <a:ea typeface="DejaVu Sans"/>
                <a:cs typeface="DejaVu Sans"/>
              </a:rPr>
              <a:t>Unauthorized approval and wrong-host access</a:t>
            </a:r>
          </a:p>
          <a:p xmlns:a="http://schemas.openxmlformats.org/drawingml/2006/main">
            <a:pPr>
              <a:defRPr sz="2025" b="0">
                <a:solidFill>
                  <a:srgbClr val="5C7078"/>
                </a:solidFill>
                <a:latin typeface="DejaVu Sans"/>
                <a:ea typeface="DejaVu Sans"/>
                <a:cs typeface="DejaVu Sans"/>
              </a:defRPr>
            </a:pPr>
            <a:r>
              <a:rPr sz="2025" b="0">
                <a:solidFill>
                  <a:srgbClr val="5C7078"/>
                </a:solidFill>
                <a:latin typeface="DejaVu Sans"/>
                <a:ea typeface="DejaVu Sans"/>
                <a:cs typeface="DejaVu Sans"/>
              </a:rPr>
              <a:t>Pass expiry, redacted results and code collisions</a:t>
            </a:r>
          </a:p>
        </p:txBody>
      </p:sp>
    </p:spTree>
    <p:extLst>
      <p:ext uri="{BB962C8B-B14F-4D97-AF65-F5344CB8AC3E}">
        <p14:creationId xmlns:p14="http://schemas.microsoft.com/office/powerpoint/2010/main" val="1035633510"/>
      </p:ext>
    </p:extLst>
  </p:cSld>
</p:sld>
</file>

<file path=ppt/slides/slide5.xml><?xml version="1.0" encoding="utf-8"?>
<p:sld xmlns:p="http://schemas.openxmlformats.org/presentationml/2006/main">
  <p:cSld>
    <p:bg>
      <p:bgPr>
        <a:solidFill xmlns:a="http://schemas.openxmlformats.org/drawingml/2006/main">
          <a:srgbClr val="FCFD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2A190F8-93B2-4E4F-9643-D7780483181B}"/>
              </a:ext>
            </a:extLst>
          </p:cNvPr>
          <p:cNvSpPr>
            <a:spLocks xmlns:a="http://schemas.openxmlformats.org/drawingml/2006/main" noGrp="1"/>
          </p:cNvSpPr>
          <p:nvPr/>
        </p:nvSpPr>
        <p:spPr>
          <a:xfrm xmlns:a="http://schemas.openxmlformats.org/drawingml/2006/main">
            <a:off x="619125"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73E4F"/>
                </a:solidFill>
                <a:latin typeface="DejaVu Sans"/>
                <a:ea typeface="DejaVu Sans"/>
                <a:cs typeface="DejaVu Sans"/>
              </a:defRPr>
            </a:pPr>
            <a:r>
              <a:rPr sz="3450" b="1">
                <a:solidFill>
                  <a:srgbClr val="173E4F"/>
                </a:solidFill>
                <a:latin typeface="DejaVu Sans"/>
                <a:ea typeface="DejaVu Sans"/>
                <a:cs typeface="DejaVu Sans"/>
              </a:rPr>
              <a:t>Live workflow proof</a:t>
            </a:r>
          </a:p>
        </p:txBody>
      </p:sp>
      <p:sp>
        <p:nvSpPr>
          <p:cNvPr id="2" name="">
            <a:extLst xmlns:a="http://schemas.openxmlformats.org/drawingml/2006/main">
              <a:ext uri="{FF2B5EF4-FFF2-40B4-BE49-F238E27FC236}">
                <a16:creationId xmlns:a16="http://schemas.microsoft.com/office/drawing/2014/main" id="{5F6E1EAC-AAD5-414C-A5EE-B2612C839C62}"/>
              </a:ext>
            </a:extLst>
          </p:cNvPr>
          <p:cNvSpPr>
            <a:spLocks xmlns:a="http://schemas.openxmlformats.org/drawingml/2006/main" noGrp="1"/>
          </p:cNvSpPr>
          <p:nvPr/>
        </p:nvSpPr>
        <p:spPr>
          <a:xfrm xmlns:a="http://schemas.openxmlformats.org/drawingml/2006/main">
            <a:off x="10953750" y="62865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5C7078"/>
                </a:solidFill>
                <a:latin typeface="DejaVu Sans"/>
                <a:ea typeface="DejaVu Sans"/>
                <a:cs typeface="DejaVu Sans"/>
              </a:defRPr>
            </a:pPr>
            <a:r>
              <a:rPr sz="1425" b="0">
                <a:solidFill>
                  <a:srgbClr val="5C7078"/>
                </a:solidFill>
                <a:latin typeface="DejaVu Sans"/>
                <a:ea typeface="DejaVu Sans"/>
                <a:cs typeface="DejaVu Sans"/>
              </a:rPr>
              <a:t>5 / 5</a:t>
            </a:r>
          </a:p>
        </p:txBody>
      </p:sp>
      <p:sp>
        <p:nvSpPr>
          <p:cNvPr id="3" name="">
            <a:extLst xmlns:a="http://schemas.openxmlformats.org/drawingml/2006/main">
              <a:ext uri="{FF2B5EF4-FFF2-40B4-BE49-F238E27FC236}">
                <a16:creationId xmlns:a16="http://schemas.microsoft.com/office/drawing/2014/main" id="{779E2C05-68F6-4FD7-93CC-6FB24047711B}"/>
              </a:ext>
            </a:extLst>
          </p:cNvPr>
          <p:cNvSpPr>
            <a:spLocks xmlns:a="http://schemas.openxmlformats.org/drawingml/2006/main" noGrp="1"/>
          </p:cNvSpPr>
          <p:nvPr/>
        </p:nvSpPr>
        <p:spPr>
          <a:xfrm xmlns:a="http://schemas.openxmlformats.org/drawingml/2006/main">
            <a:off x="619125" y="167640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6653"/>
                </a:solidFill>
                <a:latin typeface="DejaVu Sans"/>
                <a:ea typeface="DejaVu Sans"/>
                <a:cs typeface="DejaVu Sans"/>
              </a:defRPr>
            </a:pPr>
            <a:r>
              <a:rPr sz="3225" b="1">
                <a:solidFill>
                  <a:srgbClr val="176653"/>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4FF05146-D363-4FF6-98E1-E0EBA4DC87E1}"/>
              </a:ext>
            </a:extLst>
          </p:cNvPr>
          <p:cNvSpPr>
            <a:spLocks xmlns:a="http://schemas.openxmlformats.org/drawingml/2006/main" noGrp="1"/>
          </p:cNvSpPr>
          <p:nvPr/>
        </p:nvSpPr>
        <p:spPr>
          <a:xfrm xmlns:a="http://schemas.openxmlformats.org/drawingml/2006/main">
            <a:off x="1638300" y="1676400"/>
            <a:ext cx="966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Invalid input</a:t>
            </a:r>
          </a:p>
        </p:txBody>
      </p:sp>
      <p:sp>
        <p:nvSpPr>
          <p:cNvPr id="5" name="">
            <a:extLst xmlns:a="http://schemas.openxmlformats.org/drawingml/2006/main">
              <a:ext uri="{FF2B5EF4-FFF2-40B4-BE49-F238E27FC236}">
                <a16:creationId xmlns:a16="http://schemas.microsoft.com/office/drawing/2014/main" id="{9DEABAF8-9581-45AF-85CB-B4D72B1E8EC2}"/>
              </a:ext>
            </a:extLst>
          </p:cNvPr>
          <p:cNvSpPr>
            <a:spLocks xmlns:a="http://schemas.openxmlformats.org/drawingml/2006/main" noGrp="1"/>
          </p:cNvSpPr>
          <p:nvPr/>
        </p:nvSpPr>
        <p:spPr>
          <a:xfrm xmlns:a="http://schemas.openxmlformats.org/drawingml/2006/main">
            <a:off x="1638300" y="2133600"/>
            <a:ext cx="9667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C7078"/>
                </a:solidFill>
                <a:latin typeface="DejaVu Sans"/>
                <a:ea typeface="DejaVu Sans"/>
                <a:cs typeface="DejaVu Sans"/>
              </a:defRPr>
            </a:pPr>
            <a:r>
              <a:rPr sz="1950" b="0">
                <a:solidFill>
                  <a:srgbClr val="5C7078"/>
                </a:solidFill>
                <a:latin typeface="DejaVu Sans"/>
                <a:ea typeface="DejaVu Sans"/>
                <a:cs typeface="DejaVu Sans"/>
              </a:rPr>
              <a:t>Blank name produces a clear error.</a:t>
            </a:r>
          </a:p>
        </p:txBody>
      </p:sp>
      <p:sp>
        <p:nvSpPr>
          <p:cNvPr id="6" name="">
            <a:extLst xmlns:a="http://schemas.openxmlformats.org/drawingml/2006/main">
              <a:ext uri="{FF2B5EF4-FFF2-40B4-BE49-F238E27FC236}">
                <a16:creationId xmlns:a16="http://schemas.microsoft.com/office/drawing/2014/main" id="{7779DF92-F177-4517-8885-35EA53403EA7}"/>
              </a:ext>
            </a:extLst>
          </p:cNvPr>
          <p:cNvSpPr>
            <a:spLocks xmlns:a="http://schemas.openxmlformats.org/drawingml/2006/main" noGrp="1"/>
          </p:cNvSpPr>
          <p:nvPr/>
        </p:nvSpPr>
        <p:spPr>
          <a:xfrm xmlns:a="http://schemas.openxmlformats.org/drawingml/2006/main">
            <a:off x="619125" y="27336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6653"/>
                </a:solidFill>
                <a:latin typeface="DejaVu Sans"/>
                <a:ea typeface="DejaVu Sans"/>
                <a:cs typeface="DejaVu Sans"/>
              </a:defRPr>
            </a:pPr>
            <a:r>
              <a:rPr sz="3225" b="1">
                <a:solidFill>
                  <a:srgbClr val="176653"/>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4C819BC3-11EB-4A4F-A349-6FD237DE7735}"/>
              </a:ext>
            </a:extLst>
          </p:cNvPr>
          <p:cNvSpPr>
            <a:spLocks xmlns:a="http://schemas.openxmlformats.org/drawingml/2006/main" noGrp="1"/>
          </p:cNvSpPr>
          <p:nvPr/>
        </p:nvSpPr>
        <p:spPr>
          <a:xfrm xmlns:a="http://schemas.openxmlformats.org/drawingml/2006/main">
            <a:off x="1638300" y="2733675"/>
            <a:ext cx="966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Visitor request</a:t>
            </a:r>
          </a:p>
        </p:txBody>
      </p:sp>
      <p:sp>
        <p:nvSpPr>
          <p:cNvPr id="8" name="">
            <a:extLst xmlns:a="http://schemas.openxmlformats.org/drawingml/2006/main">
              <a:ext uri="{FF2B5EF4-FFF2-40B4-BE49-F238E27FC236}">
                <a16:creationId xmlns:a16="http://schemas.microsoft.com/office/drawing/2014/main" id="{5B9AF8CF-3631-4DF2-AA7C-7C4126A1DCE8}"/>
              </a:ext>
            </a:extLst>
          </p:cNvPr>
          <p:cNvSpPr>
            <a:spLocks xmlns:a="http://schemas.openxmlformats.org/drawingml/2006/main" noGrp="1"/>
          </p:cNvSpPr>
          <p:nvPr/>
        </p:nvSpPr>
        <p:spPr>
          <a:xfrm xmlns:a="http://schemas.openxmlformats.org/drawingml/2006/main">
            <a:off x="1638300" y="3190875"/>
            <a:ext cx="9667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C7078"/>
                </a:solidFill>
                <a:latin typeface="DejaVu Sans"/>
                <a:ea typeface="DejaVu Sans"/>
                <a:cs typeface="DejaVu Sans"/>
              </a:defRPr>
            </a:pPr>
            <a:r>
              <a:rPr sz="1950" b="0">
                <a:solidFill>
                  <a:srgbClr val="5C7078"/>
                </a:solidFill>
                <a:latin typeface="DejaVu Sans"/>
                <a:ea typeface="DejaVu Sans"/>
                <a:cs typeface="DejaVu Sans"/>
              </a:rPr>
              <a:t>Use fictional data and today’s date.</a:t>
            </a:r>
          </a:p>
        </p:txBody>
      </p:sp>
      <p:sp>
        <p:nvSpPr>
          <p:cNvPr id="9" name="">
            <a:extLst xmlns:a="http://schemas.openxmlformats.org/drawingml/2006/main">
              <a:ext uri="{FF2B5EF4-FFF2-40B4-BE49-F238E27FC236}">
                <a16:creationId xmlns:a16="http://schemas.microsoft.com/office/drawing/2014/main" id="{AF6AA171-3A2D-4613-88F8-54A1264AB72F}"/>
              </a:ext>
            </a:extLst>
          </p:cNvPr>
          <p:cNvSpPr>
            <a:spLocks xmlns:a="http://schemas.openxmlformats.org/drawingml/2006/main" noGrp="1"/>
          </p:cNvSpPr>
          <p:nvPr/>
        </p:nvSpPr>
        <p:spPr>
          <a:xfrm xmlns:a="http://schemas.openxmlformats.org/drawingml/2006/main">
            <a:off x="619125" y="379095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6653"/>
                </a:solidFill>
                <a:latin typeface="DejaVu Sans"/>
                <a:ea typeface="DejaVu Sans"/>
                <a:cs typeface="DejaVu Sans"/>
              </a:defRPr>
            </a:pPr>
            <a:r>
              <a:rPr sz="3225" b="1">
                <a:solidFill>
                  <a:srgbClr val="176653"/>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EA451330-ECF6-436E-8198-BDE0F5E392ED}"/>
              </a:ext>
            </a:extLst>
          </p:cNvPr>
          <p:cNvSpPr>
            <a:spLocks xmlns:a="http://schemas.openxmlformats.org/drawingml/2006/main" noGrp="1"/>
          </p:cNvSpPr>
          <p:nvPr/>
        </p:nvSpPr>
        <p:spPr>
          <a:xfrm xmlns:a="http://schemas.openxmlformats.org/drawingml/2006/main">
            <a:off x="1638300" y="3790950"/>
            <a:ext cx="966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Permission check</a:t>
            </a:r>
          </a:p>
        </p:txBody>
      </p:sp>
      <p:sp>
        <p:nvSpPr>
          <p:cNvPr id="11" name="">
            <a:extLst xmlns:a="http://schemas.openxmlformats.org/drawingml/2006/main">
              <a:ext uri="{FF2B5EF4-FFF2-40B4-BE49-F238E27FC236}">
                <a16:creationId xmlns:a16="http://schemas.microsoft.com/office/drawing/2014/main" id="{53A0A698-2F00-4F73-AE4C-D80EF9FA9922}"/>
              </a:ext>
            </a:extLst>
          </p:cNvPr>
          <p:cNvSpPr>
            <a:spLocks xmlns:a="http://schemas.openxmlformats.org/drawingml/2006/main" noGrp="1"/>
          </p:cNvSpPr>
          <p:nvPr/>
        </p:nvSpPr>
        <p:spPr>
          <a:xfrm xmlns:a="http://schemas.openxmlformats.org/drawingml/2006/main">
            <a:off x="1638300" y="4248150"/>
            <a:ext cx="9667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C7078"/>
                </a:solidFill>
                <a:latin typeface="DejaVu Sans"/>
                <a:ea typeface="DejaVu Sans"/>
                <a:cs typeface="DejaVu Sans"/>
              </a:defRPr>
            </a:pPr>
            <a:r>
              <a:rPr sz="1950" b="0">
                <a:solidFill>
                  <a:srgbClr val="5C7078"/>
                </a:solidFill>
                <a:latin typeface="DejaVu Sans"/>
                <a:ea typeface="DejaVu Sans"/>
                <a:cs typeface="DejaVu Sans"/>
              </a:rPr>
              <a:t>Visitor approval fails. The assigned Host approves.</a:t>
            </a:r>
          </a:p>
        </p:txBody>
      </p:sp>
      <p:sp>
        <p:nvSpPr>
          <p:cNvPr id="12" name="">
            <a:extLst xmlns:a="http://schemas.openxmlformats.org/drawingml/2006/main">
              <a:ext uri="{FF2B5EF4-FFF2-40B4-BE49-F238E27FC236}">
                <a16:creationId xmlns:a16="http://schemas.microsoft.com/office/drawing/2014/main" id="{E811942E-98FD-4EA6-BA69-118EDA53613C}"/>
              </a:ext>
            </a:extLst>
          </p:cNvPr>
          <p:cNvSpPr>
            <a:spLocks xmlns:a="http://schemas.openxmlformats.org/drawingml/2006/main" noGrp="1"/>
          </p:cNvSpPr>
          <p:nvPr/>
        </p:nvSpPr>
        <p:spPr>
          <a:xfrm xmlns:a="http://schemas.openxmlformats.org/drawingml/2006/main">
            <a:off x="619125" y="484822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176653"/>
                </a:solidFill>
                <a:latin typeface="DejaVu Sans"/>
                <a:ea typeface="DejaVu Sans"/>
                <a:cs typeface="DejaVu Sans"/>
              </a:defRPr>
            </a:pPr>
            <a:r>
              <a:rPr sz="3225" b="1">
                <a:solidFill>
                  <a:srgbClr val="176653"/>
                </a:solidFill>
                <a:latin typeface="DejaVu Sans"/>
                <a:ea typeface="DejaVu Sans"/>
                <a:cs typeface="DejaVu Sans"/>
              </a:rPr>
              <a:t>04</a:t>
            </a:r>
          </a:p>
        </p:txBody>
      </p:sp>
      <p:sp>
        <p:nvSpPr>
          <p:cNvPr id="13" name="">
            <a:extLst xmlns:a="http://schemas.openxmlformats.org/drawingml/2006/main">
              <a:ext uri="{FF2B5EF4-FFF2-40B4-BE49-F238E27FC236}">
                <a16:creationId xmlns:a16="http://schemas.microsoft.com/office/drawing/2014/main" id="{F815CDEF-7E50-41DA-B59A-A55A440A4C5B}"/>
              </a:ext>
            </a:extLst>
          </p:cNvPr>
          <p:cNvSpPr>
            <a:spLocks xmlns:a="http://schemas.openxmlformats.org/drawingml/2006/main" noGrp="1"/>
          </p:cNvSpPr>
          <p:nvPr/>
        </p:nvSpPr>
        <p:spPr>
          <a:xfrm xmlns:a="http://schemas.openxmlformats.org/drawingml/2006/main">
            <a:off x="1638300" y="4848225"/>
            <a:ext cx="966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73E4F"/>
                </a:solidFill>
                <a:latin typeface="DejaVu Sans"/>
                <a:ea typeface="DejaVu Sans"/>
                <a:cs typeface="DejaVu Sans"/>
              </a:defRPr>
            </a:pPr>
            <a:r>
              <a:rPr sz="2250" b="1">
                <a:solidFill>
                  <a:srgbClr val="173E4F"/>
                </a:solidFill>
                <a:latin typeface="DejaVu Sans"/>
                <a:ea typeface="DejaVu Sans"/>
                <a:cs typeface="DejaVu Sans"/>
              </a:rPr>
              <a:t>Guard check</a:t>
            </a:r>
          </a:p>
        </p:txBody>
      </p:sp>
      <p:sp>
        <p:nvSpPr>
          <p:cNvPr id="14" name="">
            <a:extLst xmlns:a="http://schemas.openxmlformats.org/drawingml/2006/main">
              <a:ext uri="{FF2B5EF4-FFF2-40B4-BE49-F238E27FC236}">
                <a16:creationId xmlns:a16="http://schemas.microsoft.com/office/drawing/2014/main" id="{12B064CC-612C-4DB4-841E-8E8E49C8B190}"/>
              </a:ext>
            </a:extLst>
          </p:cNvPr>
          <p:cNvSpPr>
            <a:spLocks xmlns:a="http://schemas.openxmlformats.org/drawingml/2006/main" noGrp="1"/>
          </p:cNvSpPr>
          <p:nvPr/>
        </p:nvSpPr>
        <p:spPr>
          <a:xfrm xmlns:a="http://schemas.openxmlformats.org/drawingml/2006/main">
            <a:off x="1638300" y="5305425"/>
            <a:ext cx="9667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C7078"/>
                </a:solidFill>
                <a:latin typeface="DejaVu Sans"/>
                <a:ea typeface="DejaVu Sans"/>
                <a:cs typeface="DejaVu Sans"/>
              </a:defRPr>
            </a:pPr>
            <a:r>
              <a:rPr sz="1950" b="0">
                <a:solidFill>
                  <a:srgbClr val="5C7078"/>
                </a:solidFill>
                <a:latin typeface="DejaVu Sans"/>
                <a:ea typeface="DejaVu Sans"/>
                <a:cs typeface="DejaVu Sans"/>
              </a:rPr>
              <a:t>Wrong code is invalid. Approved code is valid today.</a:t>
            </a:r>
          </a:p>
        </p:txBody>
      </p:sp>
      <p:sp>
        <p:nvSpPr>
          <p:cNvPr id="15" name="">
            <a:extLst xmlns:a="http://schemas.openxmlformats.org/drawingml/2006/main">
              <a:ext uri="{FF2B5EF4-FFF2-40B4-BE49-F238E27FC236}">
                <a16:creationId xmlns:a16="http://schemas.microsoft.com/office/drawing/2014/main" id="{B10B4544-8902-4EAC-839F-FD9B4A7DB045}"/>
              </a:ext>
            </a:extLst>
          </p:cNvPr>
          <p:cNvSpPr>
            <a:spLocks xmlns:a="http://schemas.openxmlformats.org/drawingml/2006/main" noGrp="1"/>
          </p:cNvSpPr>
          <p:nvPr/>
        </p:nvSpPr>
        <p:spPr>
          <a:xfrm xmlns:a="http://schemas.openxmlformats.org/drawingml/2006/main">
            <a:off x="619125" y="609600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C7078"/>
                </a:solidFill>
                <a:latin typeface="DejaVu Sans"/>
                <a:ea typeface="DejaVu Sans"/>
                <a:cs typeface="DejaVu Sans"/>
              </a:defRPr>
            </a:pPr>
            <a:r>
              <a:rPr sz="1725" b="0">
                <a:solidFill>
                  <a:srgbClr val="5C7078"/>
                </a:solidFill>
                <a:latin typeface="DejaVu Sans"/>
                <a:ea typeface="DejaVu Sans"/>
                <a:cs typeface="DejaVu Sans"/>
              </a:rPr>
              <a:t>Use the final two minutes for the browser demonstration</a:t>
            </a:r>
          </a:p>
        </p:txBody>
      </p:sp>
    </p:spTree>
    <p:extLst>
      <p:ext uri="{BB962C8B-B14F-4D97-AF65-F5344CB8AC3E}">
        <p14:creationId xmlns:p14="http://schemas.microsoft.com/office/powerpoint/2010/main" val="18485442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2026-10-03T02:13:13.6430000Z</dcterms:created>
  <dcterms:modified xsi:type="dcterms:W3CDTF">2026-10-03T02:13:13.6430000Z</dcterms:modified>
</coreProperties>
</file>